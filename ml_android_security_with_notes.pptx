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[Camera on. Look into the lens. Begin when ready.]</a:t>
            </a:r>
          </a:p>
          <a:p>
            <a:r>
              <a:rPr lang="en-US" dirty="0"/>
              <a:t>Hi, my name is Bruna Vasconcelos, and this is my project proposal for CS 6491, Computer Security, at the University of Utah.</a:t>
            </a:r>
          </a:p>
          <a:p>
            <a:r>
              <a:rPr lang="en-US" dirty="0"/>
              <a:t>The project is called “Security Analysis of ML-Powered Android Apps.”</a:t>
            </a:r>
          </a:p>
          <a:p>
            <a:r>
              <a:rPr lang="en-US" dirty="0" i="1">
                <a:solidFill>
                  <a:srgbClr val="6B7280"/>
                </a:solidFill>
              </a:rPr>
              <a:t>--- BEAT ---</a:t>
            </a:r>
          </a:p>
          <a:p>
            <a:r>
              <a:rPr lang="en-US" dirty="0"/>
              <a:t>And it’s built around one focused research question: Can Truth Serum-style data poisoning attacks reach real Android apps through flaws in their machine learning pipelines?</a:t>
            </a:r>
          </a:p>
          <a:p>
            <a:r>
              <a:rPr lang="en-US" dirty="0"/>
              <a:t>That question is what drives everything you’ll see in the next few minutes.</a:t>
            </a:r>
          </a:p>
        </p:txBody>
      </p:sp>
      <p:sp>
        <p:nvSpPr>
          <p:cNvPr id="4" name="Slide Number Placeholder 3"/>
          <p:cNvSpPr>
            <a:spLocks noGrp="1"/>
          </p:cNvSpPr>
          <p:nvPr>
            <p:ph type="sldNum" sz="quarter" idx="10"/>
          </p:nvPr>
        </p:nvSpPr>
        <p:spPr/>
        <p:txBody>
          <a:bodyPr/>
          <a:lstStyle/>
          <a:p>
            <a:fld id="{8AE1FAC7-3D08-4279-8F99-B350BEC8919D}"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[Advance slide. Let the three stat cards settle before speaking.]</a:t>
            </a:r>
          </a:p>
          <a:p>
            <a:r>
              <a:rPr lang="en-US" dirty="0"/>
              <a:t>Let’s start with why this problem matters.</a:t>
            </a:r>
          </a:p>
          <a:p>
            <a:r>
              <a:rPr lang="en-US" dirty="0"/>
              <a:t>There are over 3.5 billion Android devices in active use today. More than 60 percent of the top-100 apps on Google Play now embed on-device machine learning — frameworks like TensorFlow Lite, ONNX, or ML Kit — running directly on the device.</a:t>
            </a:r>
          </a:p>
          <a:p>
            <a:r>
              <a:rPr lang="en-US" dirty="0" i="1">
                <a:solidFill>
                  <a:srgbClr val="6B7280"/>
                </a:solidFill>
              </a:rPr>
              <a:t>--- BEAT ---</a:t>
            </a:r>
          </a:p>
          <a:p>
            <a:r>
              <a:rPr lang="en-US" dirty="0"/>
              <a:t>Now here’s the gap: if you search for peer-reviewed security audits of those on-device ML pipelines, you find essentially zero.</a:t>
            </a:r>
          </a:p>
          <a:p>
            <a:r>
              <a:rPr lang="en-US" dirty="0"/>
              <a:t>The reason is shown in the third card. The tools we use for Android security — FlowDroid and Soot — were designed before on-device ML even existed. ML data flows are completely invisible to them.</a:t>
            </a:r>
          </a:p>
          <a:p>
            <a:r>
              <a:rPr lang="en-US" dirty="0" i="1">
                <a:solidFill>
                  <a:srgbClr val="6B7280"/>
                </a:solidFill>
              </a:rPr>
              <a:t>--- BEAT ---</a:t>
            </a:r>
          </a:p>
          <a:p>
            <a:r>
              <a:rPr lang="en-US" dirty="0" i="1">
                <a:solidFill>
                  <a:srgbClr val="6B7280"/>
                </a:solidFill>
              </a:rPr>
              <a:t>[Gesture toward the Related Work row at the bottom.]</a:t>
            </a:r>
          </a:p>
          <a:p>
            <a:r>
              <a:rPr lang="en-US" dirty="0"/>
              <a:t>The related work confirms this. Arzt et al.’s FlowDroid paper from 2014 defines no ML-specific sources or sinks. TaintDroid predates on-device ML entirely. And even the most recent MLSec survey only covers lab models — never real deployed apps.</a:t>
            </a:r>
          </a:p>
          <a:p>
            <a:r>
              <a:rPr lang="en-US" dirty="0"/>
              <a:t>So the gap is real, confirmed, and no one has closed it.</a:t>
            </a:r>
          </a:p>
        </p:txBody>
      </p:sp>
      <p:sp>
        <p:nvSpPr>
          <p:cNvPr id="4" name="Slide Number Placeholder 3"/>
          <p:cNvSpPr>
            <a:spLocks noGrp="1"/>
          </p:cNvSpPr>
          <p:nvPr>
            <p:ph type="sldNum" sz="quarter" idx="10"/>
          </p:nvPr>
        </p:nvSpPr>
        <p:spPr/>
        <p:txBody>
          <a:bodyPr/>
          <a:lstStyle/>
          <a:p>
            <a:fld id="{F10A56CD-00F9-4E15-87D2-4DBDB546430F}"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[Advance slide. This is your research questions slide — take your time with each one.]</a:t>
            </a:r>
          </a:p>
          <a:p>
            <a:r>
              <a:rPr lang="en-US" dirty="0"/>
              <a:t>Now, to the four research questions driving this project.</a:t>
            </a:r>
          </a:p>
          <a:p>
            <a:r>
              <a:rPr lang="en-US" dirty="0"/>
              <a:t>The two PRIMARY questions are the core deliverables.</a:t>
            </a:r>
          </a:p>
          <a:p>
            <a:r>
              <a:rPr lang="en-US" dirty="0"/>
              <a:t>First: do poisoning surfaces exist? Meaning — does user-submitted data flow into ML model retraining without sanitization or anomaly detection? That’s the direct attack surface for data poisoning.</a:t>
            </a:r>
          </a:p>
          <a:p>
            <a:r>
              <a:rPr lang="en-US" dirty="0"/>
              <a:t>Second: are model files exposed? Are .tflite, .onnx, or .pkl files sitting unencrypted inside the APK? No integrity checks on load means the model can be swapped or reverse-engineered.</a:t>
            </a:r>
          </a:p>
          <a:p>
            <a:r>
              <a:rPr lang="en-US" dirty="0" i="1">
                <a:solidFill>
                  <a:srgbClr val="6B7280"/>
                </a:solidFill>
              </a:rPr>
              <a:t>--- BEAT ---</a:t>
            </a:r>
          </a:p>
          <a:p>
            <a:r>
              <a:rPr lang="en-US" dirty="0"/>
              <a:t>The two STRETCH questions — secure data handling and safe model update channels — are secondary. If time allows, great. If not, the Primary two alone constitute a complete deliverable.</a:t>
            </a:r>
          </a:p>
          <a:p>
            <a:r>
              <a:rPr lang="en-US" dirty="0" i="1">
                <a:solidFill>
                  <a:srgbClr val="6B7280"/>
                </a:solidFill>
              </a:rPr>
              <a:t>[Reference the dark footer bar.]</a:t>
            </a:r>
          </a:p>
          <a:p>
            <a:r>
              <a:rPr lang="en-US" dirty="0"/>
              <a:t>And critically: a negative result — finding that apps are well-secured — is itself a valid security posture finding. This project succeeds by completing the analysis, not by finding vulnerabilities.</a:t>
            </a:r>
          </a:p>
        </p:txBody>
      </p:sp>
      <p:sp>
        <p:nvSpPr>
          <p:cNvPr id="4" name="Slide Number Placeholder 3"/>
          <p:cNvSpPr>
            <a:spLocks noGrp="1"/>
          </p:cNvSpPr>
          <p:nvPr>
            <p:ph type="sldNum" sz="quarter" idx="10"/>
          </p:nvPr>
        </p:nvSpPr>
        <p:spPr/>
        <p:txBody>
          <a:bodyPr/>
          <a:lstStyle/>
          <a:p>
            <a:fld id="{79D2DE79-3EA0-4DA7-94C8-0D2D4F055C67}"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[Advance slide. Reference left column first, then right column.]</a:t>
            </a:r>
          </a:p>
          <a:p>
            <a:r>
              <a:rPr lang="en-US" dirty="0"/>
              <a:t>Before methodology, I want to address two questions a reviewer always asks: WHO are we studying, and HOW are we doing it responsibly?</a:t>
            </a:r>
          </a:p>
          <a:p>
            <a:r>
              <a:rPr lang="en-US" dirty="0"/>
              <a:t>On the corpus side: I’m targeting 30 apps from Google Play with over one million downloads, across six ML-heavy categories — keyboard apps, camera and vision apps, voice and translation apps, fitness and health apps, and smart NLP tools. These were chosen because they’re the most likely to have active retraining pipelines fed by user data.</a:t>
            </a:r>
          </a:p>
          <a:p>
            <a:r>
              <a:rPr lang="en-US" dirty="0" i="1">
                <a:solidFill>
                  <a:srgbClr val="6B7280"/>
                </a:solidFill>
              </a:rPr>
              <a:t>--- BEAT ---</a:t>
            </a:r>
          </a:p>
          <a:p>
            <a:r>
              <a:rPr lang="en-US" dirty="0" i="1">
                <a:solidFill>
                  <a:srgbClr val="6B7280"/>
                </a:solidFill>
              </a:rPr>
              <a:t>[Reference the right column.]</a:t>
            </a:r>
          </a:p>
          <a:p>
            <a:r>
              <a:rPr lang="en-US" dirty="0"/>
              <a:t>On the ethics side, four commitments. First, CFAA compliance — static analysis only on publicly distributed APKs, no unauthorized server access, no live user data. Second, responsible disclosure — any critical vulnerability found gets a 90-day vendor notification window before publication. Third, no real user harm — all proof-of-concept exploits run in an isolated emulator only. And fourth, ToS awareness — APK decompilation for security research is protected under fair use.</a:t>
            </a:r>
          </a:p>
        </p:txBody>
      </p:sp>
      <p:sp>
        <p:nvSpPr>
          <p:cNvPr id="4" name="Slide Number Placeholder 3"/>
          <p:cNvSpPr>
            <a:spLocks noGrp="1"/>
          </p:cNvSpPr>
          <p:nvPr>
            <p:ph type="sldNum" sz="quarter" idx="10"/>
          </p:nvPr>
        </p:nvSpPr>
        <p:spPr/>
        <p:txBody>
          <a:bodyPr/>
          <a:lstStyle/>
          <a:p>
            <a:fld id="{B05DAFA5-EC49-487E-831E-CEFC23C443FD}"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[Advance slide. Walk through Phase 1 first, then Phase 2, then reference the amber warning boxes.]</a:t>
            </a:r>
          </a:p>
          <a:p>
            <a:r>
              <a:rPr lang="en-US" dirty="0"/>
              <a:t>The methodology runs in two phases.</a:t>
            </a:r>
          </a:p>
          <a:p>
            <a:r>
              <a:rPr lang="en-US" dirty="0"/>
              <a:t>Phase One is static analysis. I start by decompiling APKs using apktool and jadx to extract Smali bytecode and any embedded model files. From there, I run a custom Soot transform that performs inter-procedural analysis — specifically tracing whether user-submitted data flows into model training without sanitization. I also run FlowDroid taint analysis to track sensitive sources — microphone, camera, location — through the ML inference pipeline to potential sinks.</a:t>
            </a:r>
          </a:p>
          <a:p>
            <a:r>
              <a:rPr lang="en-US" dirty="0" i="1">
                <a:solidFill>
                  <a:srgbClr val="6B7280"/>
                </a:solidFill>
              </a:rPr>
              <a:t>--- BEAT ---</a:t>
            </a:r>
          </a:p>
          <a:p>
            <a:r>
              <a:rPr lang="en-US" dirty="0"/>
              <a:t>Phase Two is dynamic validation. For any vulnerability confirmed statically, I use Frida instrumentation to intercept model loading and inference calls at runtime, craft proof-of-concept exploits verified in an emulator, and assess whether a poisoning defense can be retrofitted as a runtime shield.</a:t>
            </a:r>
          </a:p>
          <a:p>
            <a:r>
              <a:rPr lang="en-US" dirty="0" i="1">
                <a:solidFill>
                  <a:srgbClr val="6B7280"/>
                </a:solidFill>
              </a:rPr>
              <a:t>--- BEAT ---</a:t>
            </a:r>
          </a:p>
          <a:p>
            <a:r>
              <a:rPr lang="en-US" dirty="0" i="1">
                <a:solidFill>
                  <a:srgbClr val="6B7280"/>
                </a:solidFill>
              </a:rPr>
              <a:t>[Reference the two amber warning boxes at the bottom.]</a:t>
            </a:r>
          </a:p>
          <a:p>
            <a:r>
              <a:rPr lang="en-US" dirty="0"/>
              <a:t>I’m also being transparent about tool limitations. FlowDroid loses track of data flow through Java reflection and dynamic class loading — both common in ML frameworks. Manual review is applied in those cases. And Frida requires APK repackaging rather than rooting, which adds roughly two days per batch but gives broader app coverage.</a:t>
            </a:r>
          </a:p>
        </p:txBody>
      </p:sp>
      <p:sp>
        <p:nvSpPr>
          <p:cNvPr id="4" name="Slide Number Placeholder 3"/>
          <p:cNvSpPr>
            <a:spLocks noGrp="1"/>
          </p:cNvSpPr>
          <p:nvPr>
            <p:ph type="sldNum" sz="quarter" idx="10"/>
          </p:nvPr>
        </p:nvSpPr>
        <p:spPr/>
        <p:txBody>
          <a:bodyPr/>
          <a:lstStyle/>
          <a:p>
            <a:fld id="{338AEE27-B0AA-4C71-9E6F-17E0F28E2C2A}"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[Advance slide. Point to each quadrant as you name it, then gesture to the bottom bar.]</a:t>
            </a:r>
          </a:p>
          <a:p>
            <a:r>
              <a:rPr lang="en-US" dirty="0"/>
              <a:t>I’ve organized the vulnerabilities into four categories, clearly separated by priority.</a:t>
            </a:r>
          </a:p>
          <a:p>
            <a:r>
              <a:rPr lang="en-US" dirty="0"/>
              <a:t>The two PRIMARY targets are Poisoning Surfaces — where user data flows into retraining without anomaly detection — and Model Exposure, where unencrypted model files sit unprotected in the APK.</a:t>
            </a:r>
          </a:p>
          <a:p>
            <a:r>
              <a:rPr lang="en-US" dirty="0"/>
              <a:t>The two STRETCH targets are Insecure Model Updates — HTTP downloads with no signature verification — and Data Handling Flaws like PII in world-readable directories.</a:t>
            </a:r>
          </a:p>
          <a:p>
            <a:r>
              <a:rPr lang="en-US" dirty="0" i="1">
                <a:solidFill>
                  <a:srgbClr val="6B7280"/>
                </a:solidFill>
              </a:rPr>
              <a:t>--- BEAT ---</a:t>
            </a:r>
          </a:p>
          <a:p>
            <a:r>
              <a:rPr lang="en-US" dirty="0" i="1">
                <a:solidFill>
                  <a:srgbClr val="6B7280"/>
                </a:solidFill>
              </a:rPr>
              <a:t>[Reference the dark footer bar.]</a:t>
            </a:r>
          </a:p>
          <a:p>
            <a:r>
              <a:rPr lang="en-US" dirty="0"/>
              <a:t>And my success metrics are defined. Vulnerability count and severity on a Critical, High, Medium scale. My minimum viable deliverable is the static analysis report alone. And if apps are well-secured? That’s a valid security posture finding, not a failure.</a:t>
            </a:r>
          </a:p>
        </p:txBody>
      </p:sp>
      <p:sp>
        <p:nvSpPr>
          <p:cNvPr id="4" name="Slide Number Placeholder 3"/>
          <p:cNvSpPr>
            <a:spLocks noGrp="1"/>
          </p:cNvSpPr>
          <p:nvPr>
            <p:ph type="sldNum" sz="quarter" idx="10"/>
          </p:nvPr>
        </p:nvSpPr>
        <p:spPr/>
        <p:txBody>
          <a:bodyPr/>
          <a:lstStyle/>
          <a:p>
            <a:fld id="{417B2FCA-FEA5-4ADB-9ECD-9FB4572C8440}"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[Advance slide. Sweep hand left-to-right across the four phases as you name them.]</a:t>
            </a:r>
          </a:p>
          <a:p>
            <a:r>
              <a:rPr lang="en-US" dirty="0"/>
              <a:t>The project runs over eight weeks in four phases.</a:t>
            </a:r>
          </a:p>
          <a:p>
            <a:r>
              <a:rPr lang="en-US" dirty="0"/>
              <a:t>Weeks one and two: setup and pilot — collect the 30-app corpus, run a pilot decompilation on three apps to validate the toolchain, and configure FlowDroid ML source and sink rules.</a:t>
            </a:r>
          </a:p>
          <a:p>
            <a:r>
              <a:rPr lang="en-US" dirty="0"/>
              <a:t>Weeks three and four: static analysis — run Soot transforms across the full corpus, execute the FlowDroid taint pass, and severity-score every finding.</a:t>
            </a:r>
          </a:p>
          <a:p>
            <a:r>
              <a:rPr lang="en-US" dirty="0"/>
              <a:t>Weeks five and six: dynamic testing — Frida hooks via APK repackaging, proof-of-concept development for the top confirmed vulnerabilities, and emulator verification.</a:t>
            </a:r>
          </a:p>
          <a:p>
            <a:r>
              <a:rPr lang="en-US" dirty="0"/>
              <a:t>Weeks seven and eight: report and defense — final vulnerability report, this presentation, and responsible disclosure draft.</a:t>
            </a:r>
          </a:p>
          <a:p>
            <a:r>
              <a:rPr lang="en-US" dirty="0" i="1">
                <a:solidFill>
                  <a:srgbClr val="6B7280"/>
                </a:solidFill>
              </a:rPr>
              <a:t>--- BEAT ---</a:t>
            </a:r>
          </a:p>
          <a:p>
            <a:r>
              <a:rPr lang="en-US" dirty="0" i="1">
                <a:solidFill>
                  <a:srgbClr val="6B7280"/>
                </a:solidFill>
              </a:rPr>
              <a:t>[Reference the amber contingency footers briefly.]</a:t>
            </a:r>
          </a:p>
          <a:p>
            <a:r>
              <a:rPr lang="en-US" dirty="0"/>
              <a:t>Each phase has an explicit contingency: if the pilot reveals toolchain issues, I scope down to 20 apps. If dynamic analysis runs long, the static report is my MVD. Buffer days are built into week eight.</a:t>
            </a:r>
          </a:p>
        </p:txBody>
      </p:sp>
      <p:sp>
        <p:nvSpPr>
          <p:cNvPr id="4" name="Slide Number Placeholder 3"/>
          <p:cNvSpPr>
            <a:spLocks noGrp="1"/>
          </p:cNvSpPr>
          <p:nvPr>
            <p:ph type="sldNum" sz="quarter" idx="10"/>
          </p:nvPr>
        </p:nvSpPr>
        <p:spPr/>
        <p:txBody>
          <a:bodyPr/>
          <a:lstStyle/>
          <a:p>
            <a:fld id="{3FA69D11-D8E5-4102-8A7A-E5AF9D108B59}"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i="1">
                <a:solidFill>
                  <a:srgbClr val="6B7280"/>
                </a:solidFill>
              </a:rPr>
              <a:t>[Advance slide. Slow down. Look at camera, not the screen.]</a:t>
            </a:r>
          </a:p>
          <a:p>
            <a:r>
              <a:rPr lang="en-US" dirty="0"/>
              <a:t>So why is this project defensible?</a:t>
            </a:r>
          </a:p>
          <a:p>
            <a:r>
              <a:rPr lang="en-US" dirty="0"/>
              <a:t>The gap is confirmed — related work review shows no prior audit of ML components in Android apps. FlowDroid, TaintDroid, every existing survey stops short of on-device ML pipelines.</a:t>
            </a:r>
          </a:p>
          <a:p>
            <a:r>
              <a:rPr lang="en-US" dirty="0"/>
              <a:t>The constraints are acknowledged — tool limitations are addressed with manual fallback and realistic scope, not hidden.</a:t>
            </a:r>
          </a:p>
          <a:p>
            <a:r>
              <a:rPr lang="en-US" dirty="0"/>
              <a:t>The ethical framework is in place — static-only analysis, responsible disclosure, CFAA-compliant methodology.</a:t>
            </a:r>
          </a:p>
          <a:p>
            <a:r>
              <a:rPr lang="en-US" dirty="0"/>
              <a:t>And the success criteria are robust — primary research questions are the MVD, and negative results are valid findings.</a:t>
            </a:r>
          </a:p>
          <a:p>
            <a:r>
              <a:rPr lang="en-US" dirty="0" i="1">
                <a:solidFill>
                  <a:srgbClr val="6B7280"/>
                </a:solidFill>
              </a:rPr>
              <a:t>--- BEAT ---</a:t>
            </a:r>
          </a:p>
          <a:p>
            <a:r>
              <a:rPr lang="en-US" dirty="0"/>
              <a:t>Attack. Understand. Defend. Assess. A complete, rigorous ML security arc — in one semester.</a:t>
            </a:r>
          </a:p>
          <a:p>
            <a:r>
              <a:rPr lang="en-US" dirty="0"/>
              <a:t>Thank you. I’m happy to take any questions.</a:t>
            </a:r>
          </a:p>
        </p:txBody>
      </p:sp>
      <p:sp>
        <p:nvSpPr>
          <p:cNvPr id="4" name="Slide Number Placeholder 3"/>
          <p:cNvSpPr>
            <a:spLocks noGrp="1"/>
          </p:cNvSpPr>
          <p:nvPr>
            <p:ph type="sldNum" sz="quarter" idx="10"/>
          </p:nvPr>
        </p:nvSpPr>
        <p:spPr/>
        <p:txBody>
          <a:bodyPr/>
          <a:lstStyle/>
          <a:p>
            <a:fld id="{4EAF9483-44D6-4009-9271-9F68686E097E}" type="slidenum">
              <a:rPr lang="en-US"/>
              <a:t>8</a:t>
            </a:fld>
            <a:endParaRPr lang="en-US"/>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8E0"/>
          </a:solidFill>
          <a:ln/>
        </p:spPr>
      </p:sp>
      <p:sp>
        <p:nvSpPr>
          <p:cNvPr id="3" name="Shape 1"/>
          <p:cNvSpPr/>
          <p:nvPr/>
        </p:nvSpPr>
        <p:spPr>
          <a:xfrm>
            <a:off x="6583680" y="0"/>
            <a:ext cx="2560320" cy="5143500"/>
          </a:xfrm>
          <a:prstGeom prst="rect">
            <a:avLst/>
          </a:prstGeom>
          <a:solidFill>
            <a:srgbClr val="112240"/>
          </a:solidFill>
          <a:ln/>
        </p:spPr>
      </p:sp>
      <p:sp>
        <p:nvSpPr>
          <p:cNvPr id="4" name="Shape 2"/>
          <p:cNvSpPr/>
          <p:nvPr/>
        </p:nvSpPr>
        <p:spPr>
          <a:xfrm>
            <a:off x="6720840" y="274320"/>
            <a:ext cx="73152" cy="73152"/>
          </a:xfrm>
          <a:prstGeom prst="ellipse">
            <a:avLst/>
          </a:prstGeom>
          <a:solidFill>
            <a:srgbClr val="00C8E0">
              <a:alpha val="30000"/>
            </a:srgbClr>
          </a:solidFill>
          <a:ln/>
        </p:spPr>
      </p:sp>
      <p:sp>
        <p:nvSpPr>
          <p:cNvPr id="5" name="Shape 3"/>
          <p:cNvSpPr/>
          <p:nvPr/>
        </p:nvSpPr>
        <p:spPr>
          <a:xfrm>
            <a:off x="7132320" y="274320"/>
            <a:ext cx="73152" cy="73152"/>
          </a:xfrm>
          <a:prstGeom prst="ellipse">
            <a:avLst/>
          </a:prstGeom>
          <a:solidFill>
            <a:srgbClr val="00C8E0">
              <a:alpha val="30000"/>
            </a:srgbClr>
          </a:solidFill>
          <a:ln/>
        </p:spPr>
      </p:sp>
      <p:sp>
        <p:nvSpPr>
          <p:cNvPr id="6" name="Shape 4"/>
          <p:cNvSpPr/>
          <p:nvPr/>
        </p:nvSpPr>
        <p:spPr>
          <a:xfrm>
            <a:off x="7543800" y="274320"/>
            <a:ext cx="73152" cy="73152"/>
          </a:xfrm>
          <a:prstGeom prst="ellipse">
            <a:avLst/>
          </a:prstGeom>
          <a:solidFill>
            <a:srgbClr val="00C8E0">
              <a:alpha val="30000"/>
            </a:srgbClr>
          </a:solidFill>
          <a:ln/>
        </p:spPr>
      </p:sp>
      <p:sp>
        <p:nvSpPr>
          <p:cNvPr id="7" name="Shape 5"/>
          <p:cNvSpPr/>
          <p:nvPr/>
        </p:nvSpPr>
        <p:spPr>
          <a:xfrm>
            <a:off x="7955280" y="274320"/>
            <a:ext cx="73152" cy="73152"/>
          </a:xfrm>
          <a:prstGeom prst="ellipse">
            <a:avLst/>
          </a:prstGeom>
          <a:solidFill>
            <a:srgbClr val="00C8E0">
              <a:alpha val="30000"/>
            </a:srgbClr>
          </a:solidFill>
          <a:ln/>
        </p:spPr>
      </p:sp>
      <p:sp>
        <p:nvSpPr>
          <p:cNvPr id="8" name="Shape 6"/>
          <p:cNvSpPr/>
          <p:nvPr/>
        </p:nvSpPr>
        <p:spPr>
          <a:xfrm>
            <a:off x="8366760" y="274320"/>
            <a:ext cx="73152" cy="73152"/>
          </a:xfrm>
          <a:prstGeom prst="ellipse">
            <a:avLst/>
          </a:prstGeom>
          <a:solidFill>
            <a:srgbClr val="00C8E0">
              <a:alpha val="30000"/>
            </a:srgbClr>
          </a:solidFill>
          <a:ln/>
        </p:spPr>
      </p:sp>
      <p:sp>
        <p:nvSpPr>
          <p:cNvPr id="9" name="Shape 7"/>
          <p:cNvSpPr/>
          <p:nvPr/>
        </p:nvSpPr>
        <p:spPr>
          <a:xfrm>
            <a:off x="6720840" y="1051560"/>
            <a:ext cx="73152" cy="73152"/>
          </a:xfrm>
          <a:prstGeom prst="ellipse">
            <a:avLst/>
          </a:prstGeom>
          <a:solidFill>
            <a:srgbClr val="00C8E0">
              <a:alpha val="30000"/>
            </a:srgbClr>
          </a:solidFill>
          <a:ln/>
        </p:spPr>
      </p:sp>
      <p:sp>
        <p:nvSpPr>
          <p:cNvPr id="10" name="Shape 8"/>
          <p:cNvSpPr/>
          <p:nvPr/>
        </p:nvSpPr>
        <p:spPr>
          <a:xfrm>
            <a:off x="7132320" y="1051560"/>
            <a:ext cx="73152" cy="73152"/>
          </a:xfrm>
          <a:prstGeom prst="ellipse">
            <a:avLst/>
          </a:prstGeom>
          <a:solidFill>
            <a:srgbClr val="00C8E0">
              <a:alpha val="30000"/>
            </a:srgbClr>
          </a:solidFill>
          <a:ln/>
        </p:spPr>
      </p:sp>
      <p:sp>
        <p:nvSpPr>
          <p:cNvPr id="11" name="Shape 9"/>
          <p:cNvSpPr/>
          <p:nvPr/>
        </p:nvSpPr>
        <p:spPr>
          <a:xfrm>
            <a:off x="7543800" y="1051560"/>
            <a:ext cx="73152" cy="73152"/>
          </a:xfrm>
          <a:prstGeom prst="ellipse">
            <a:avLst/>
          </a:prstGeom>
          <a:solidFill>
            <a:srgbClr val="00C8E0">
              <a:alpha val="30000"/>
            </a:srgbClr>
          </a:solidFill>
          <a:ln/>
        </p:spPr>
      </p:sp>
      <p:sp>
        <p:nvSpPr>
          <p:cNvPr id="12" name="Shape 10"/>
          <p:cNvSpPr/>
          <p:nvPr/>
        </p:nvSpPr>
        <p:spPr>
          <a:xfrm>
            <a:off x="7955280" y="1051560"/>
            <a:ext cx="73152" cy="73152"/>
          </a:xfrm>
          <a:prstGeom prst="ellipse">
            <a:avLst/>
          </a:prstGeom>
          <a:solidFill>
            <a:srgbClr val="00C8E0">
              <a:alpha val="30000"/>
            </a:srgbClr>
          </a:solidFill>
          <a:ln/>
        </p:spPr>
      </p:sp>
      <p:sp>
        <p:nvSpPr>
          <p:cNvPr id="13" name="Shape 11"/>
          <p:cNvSpPr/>
          <p:nvPr/>
        </p:nvSpPr>
        <p:spPr>
          <a:xfrm>
            <a:off x="8366760" y="1051560"/>
            <a:ext cx="73152" cy="73152"/>
          </a:xfrm>
          <a:prstGeom prst="ellipse">
            <a:avLst/>
          </a:prstGeom>
          <a:solidFill>
            <a:srgbClr val="00C8E0">
              <a:alpha val="30000"/>
            </a:srgbClr>
          </a:solidFill>
          <a:ln/>
        </p:spPr>
      </p:sp>
      <p:sp>
        <p:nvSpPr>
          <p:cNvPr id="14" name="Shape 12"/>
          <p:cNvSpPr/>
          <p:nvPr/>
        </p:nvSpPr>
        <p:spPr>
          <a:xfrm>
            <a:off x="6720840" y="1828800"/>
            <a:ext cx="73152" cy="73152"/>
          </a:xfrm>
          <a:prstGeom prst="ellipse">
            <a:avLst/>
          </a:prstGeom>
          <a:solidFill>
            <a:srgbClr val="00C8E0">
              <a:alpha val="30000"/>
            </a:srgbClr>
          </a:solidFill>
          <a:ln/>
        </p:spPr>
      </p:sp>
      <p:sp>
        <p:nvSpPr>
          <p:cNvPr id="15" name="Shape 13"/>
          <p:cNvSpPr/>
          <p:nvPr/>
        </p:nvSpPr>
        <p:spPr>
          <a:xfrm>
            <a:off x="7132320" y="1828800"/>
            <a:ext cx="73152" cy="73152"/>
          </a:xfrm>
          <a:prstGeom prst="ellipse">
            <a:avLst/>
          </a:prstGeom>
          <a:solidFill>
            <a:srgbClr val="00C8E0">
              <a:alpha val="30000"/>
            </a:srgbClr>
          </a:solidFill>
          <a:ln/>
        </p:spPr>
      </p:sp>
      <p:sp>
        <p:nvSpPr>
          <p:cNvPr id="16" name="Shape 14"/>
          <p:cNvSpPr/>
          <p:nvPr/>
        </p:nvSpPr>
        <p:spPr>
          <a:xfrm>
            <a:off x="7543800" y="1828800"/>
            <a:ext cx="73152" cy="73152"/>
          </a:xfrm>
          <a:prstGeom prst="ellipse">
            <a:avLst/>
          </a:prstGeom>
          <a:solidFill>
            <a:srgbClr val="00C8E0">
              <a:alpha val="30000"/>
            </a:srgbClr>
          </a:solidFill>
          <a:ln/>
        </p:spPr>
      </p:sp>
      <p:sp>
        <p:nvSpPr>
          <p:cNvPr id="17" name="Shape 15"/>
          <p:cNvSpPr/>
          <p:nvPr/>
        </p:nvSpPr>
        <p:spPr>
          <a:xfrm>
            <a:off x="7955280" y="1828800"/>
            <a:ext cx="73152" cy="73152"/>
          </a:xfrm>
          <a:prstGeom prst="ellipse">
            <a:avLst/>
          </a:prstGeom>
          <a:solidFill>
            <a:srgbClr val="00C8E0">
              <a:alpha val="30000"/>
            </a:srgbClr>
          </a:solidFill>
          <a:ln/>
        </p:spPr>
      </p:sp>
      <p:sp>
        <p:nvSpPr>
          <p:cNvPr id="18" name="Shape 16"/>
          <p:cNvSpPr/>
          <p:nvPr/>
        </p:nvSpPr>
        <p:spPr>
          <a:xfrm>
            <a:off x="8366760" y="1828800"/>
            <a:ext cx="73152" cy="73152"/>
          </a:xfrm>
          <a:prstGeom prst="ellipse">
            <a:avLst/>
          </a:prstGeom>
          <a:solidFill>
            <a:srgbClr val="00C8E0">
              <a:alpha val="30000"/>
            </a:srgbClr>
          </a:solidFill>
          <a:ln/>
        </p:spPr>
      </p:sp>
      <p:sp>
        <p:nvSpPr>
          <p:cNvPr id="19" name="Shape 17"/>
          <p:cNvSpPr/>
          <p:nvPr/>
        </p:nvSpPr>
        <p:spPr>
          <a:xfrm>
            <a:off x="6720840" y="2606040"/>
            <a:ext cx="73152" cy="73152"/>
          </a:xfrm>
          <a:prstGeom prst="ellipse">
            <a:avLst/>
          </a:prstGeom>
          <a:solidFill>
            <a:srgbClr val="00C8E0">
              <a:alpha val="30000"/>
            </a:srgbClr>
          </a:solidFill>
          <a:ln/>
        </p:spPr>
      </p:sp>
      <p:sp>
        <p:nvSpPr>
          <p:cNvPr id="20" name="Shape 18"/>
          <p:cNvSpPr/>
          <p:nvPr/>
        </p:nvSpPr>
        <p:spPr>
          <a:xfrm>
            <a:off x="7132320" y="2606040"/>
            <a:ext cx="73152" cy="73152"/>
          </a:xfrm>
          <a:prstGeom prst="ellipse">
            <a:avLst/>
          </a:prstGeom>
          <a:solidFill>
            <a:srgbClr val="00C8E0">
              <a:alpha val="30000"/>
            </a:srgbClr>
          </a:solidFill>
          <a:ln/>
        </p:spPr>
      </p:sp>
      <p:sp>
        <p:nvSpPr>
          <p:cNvPr id="21" name="Shape 19"/>
          <p:cNvSpPr/>
          <p:nvPr/>
        </p:nvSpPr>
        <p:spPr>
          <a:xfrm>
            <a:off x="7543800" y="2606040"/>
            <a:ext cx="73152" cy="73152"/>
          </a:xfrm>
          <a:prstGeom prst="ellipse">
            <a:avLst/>
          </a:prstGeom>
          <a:solidFill>
            <a:srgbClr val="00C8E0">
              <a:alpha val="30000"/>
            </a:srgbClr>
          </a:solidFill>
          <a:ln/>
        </p:spPr>
      </p:sp>
      <p:sp>
        <p:nvSpPr>
          <p:cNvPr id="22" name="Shape 20"/>
          <p:cNvSpPr/>
          <p:nvPr/>
        </p:nvSpPr>
        <p:spPr>
          <a:xfrm>
            <a:off x="7955280" y="2606040"/>
            <a:ext cx="73152" cy="73152"/>
          </a:xfrm>
          <a:prstGeom prst="ellipse">
            <a:avLst/>
          </a:prstGeom>
          <a:solidFill>
            <a:srgbClr val="00C8E0">
              <a:alpha val="30000"/>
            </a:srgbClr>
          </a:solidFill>
          <a:ln/>
        </p:spPr>
      </p:sp>
      <p:sp>
        <p:nvSpPr>
          <p:cNvPr id="23" name="Shape 21"/>
          <p:cNvSpPr/>
          <p:nvPr/>
        </p:nvSpPr>
        <p:spPr>
          <a:xfrm>
            <a:off x="8366760" y="2606040"/>
            <a:ext cx="73152" cy="73152"/>
          </a:xfrm>
          <a:prstGeom prst="ellipse">
            <a:avLst/>
          </a:prstGeom>
          <a:solidFill>
            <a:srgbClr val="00C8E0">
              <a:alpha val="30000"/>
            </a:srgbClr>
          </a:solidFill>
          <a:ln/>
        </p:spPr>
      </p:sp>
      <p:sp>
        <p:nvSpPr>
          <p:cNvPr id="24" name="Shape 22"/>
          <p:cNvSpPr/>
          <p:nvPr/>
        </p:nvSpPr>
        <p:spPr>
          <a:xfrm>
            <a:off x="6720840" y="3383280"/>
            <a:ext cx="73152" cy="73152"/>
          </a:xfrm>
          <a:prstGeom prst="ellipse">
            <a:avLst/>
          </a:prstGeom>
          <a:solidFill>
            <a:srgbClr val="00C8E0">
              <a:alpha val="30000"/>
            </a:srgbClr>
          </a:solidFill>
          <a:ln/>
        </p:spPr>
      </p:sp>
      <p:sp>
        <p:nvSpPr>
          <p:cNvPr id="25" name="Shape 23"/>
          <p:cNvSpPr/>
          <p:nvPr/>
        </p:nvSpPr>
        <p:spPr>
          <a:xfrm>
            <a:off x="7132320" y="3383280"/>
            <a:ext cx="73152" cy="73152"/>
          </a:xfrm>
          <a:prstGeom prst="ellipse">
            <a:avLst/>
          </a:prstGeom>
          <a:solidFill>
            <a:srgbClr val="00C8E0">
              <a:alpha val="30000"/>
            </a:srgbClr>
          </a:solidFill>
          <a:ln/>
        </p:spPr>
      </p:sp>
      <p:sp>
        <p:nvSpPr>
          <p:cNvPr id="26" name="Shape 24"/>
          <p:cNvSpPr/>
          <p:nvPr/>
        </p:nvSpPr>
        <p:spPr>
          <a:xfrm>
            <a:off x="7543800" y="3383280"/>
            <a:ext cx="73152" cy="73152"/>
          </a:xfrm>
          <a:prstGeom prst="ellipse">
            <a:avLst/>
          </a:prstGeom>
          <a:solidFill>
            <a:srgbClr val="00C8E0">
              <a:alpha val="30000"/>
            </a:srgbClr>
          </a:solidFill>
          <a:ln/>
        </p:spPr>
      </p:sp>
      <p:sp>
        <p:nvSpPr>
          <p:cNvPr id="27" name="Shape 25"/>
          <p:cNvSpPr/>
          <p:nvPr/>
        </p:nvSpPr>
        <p:spPr>
          <a:xfrm>
            <a:off x="7955280" y="3383280"/>
            <a:ext cx="73152" cy="73152"/>
          </a:xfrm>
          <a:prstGeom prst="ellipse">
            <a:avLst/>
          </a:prstGeom>
          <a:solidFill>
            <a:srgbClr val="00C8E0">
              <a:alpha val="30000"/>
            </a:srgbClr>
          </a:solidFill>
          <a:ln/>
        </p:spPr>
      </p:sp>
      <p:sp>
        <p:nvSpPr>
          <p:cNvPr id="28" name="Shape 26"/>
          <p:cNvSpPr/>
          <p:nvPr/>
        </p:nvSpPr>
        <p:spPr>
          <a:xfrm>
            <a:off x="8366760" y="3383280"/>
            <a:ext cx="73152" cy="73152"/>
          </a:xfrm>
          <a:prstGeom prst="ellipse">
            <a:avLst/>
          </a:prstGeom>
          <a:solidFill>
            <a:srgbClr val="00C8E0">
              <a:alpha val="30000"/>
            </a:srgbClr>
          </a:solidFill>
          <a:ln/>
        </p:spPr>
      </p:sp>
      <p:sp>
        <p:nvSpPr>
          <p:cNvPr id="29" name="Shape 27"/>
          <p:cNvSpPr/>
          <p:nvPr/>
        </p:nvSpPr>
        <p:spPr>
          <a:xfrm>
            <a:off x="6720840" y="4160520"/>
            <a:ext cx="73152" cy="73152"/>
          </a:xfrm>
          <a:prstGeom prst="ellipse">
            <a:avLst/>
          </a:prstGeom>
          <a:solidFill>
            <a:srgbClr val="00C8E0">
              <a:alpha val="30000"/>
            </a:srgbClr>
          </a:solidFill>
          <a:ln/>
        </p:spPr>
      </p:sp>
      <p:sp>
        <p:nvSpPr>
          <p:cNvPr id="30" name="Shape 28"/>
          <p:cNvSpPr/>
          <p:nvPr/>
        </p:nvSpPr>
        <p:spPr>
          <a:xfrm>
            <a:off x="7132320" y="4160520"/>
            <a:ext cx="73152" cy="73152"/>
          </a:xfrm>
          <a:prstGeom prst="ellipse">
            <a:avLst/>
          </a:prstGeom>
          <a:solidFill>
            <a:srgbClr val="00C8E0">
              <a:alpha val="30000"/>
            </a:srgbClr>
          </a:solidFill>
          <a:ln/>
        </p:spPr>
      </p:sp>
      <p:sp>
        <p:nvSpPr>
          <p:cNvPr id="31" name="Shape 29"/>
          <p:cNvSpPr/>
          <p:nvPr/>
        </p:nvSpPr>
        <p:spPr>
          <a:xfrm>
            <a:off x="7543800" y="4160520"/>
            <a:ext cx="73152" cy="73152"/>
          </a:xfrm>
          <a:prstGeom prst="ellipse">
            <a:avLst/>
          </a:prstGeom>
          <a:solidFill>
            <a:srgbClr val="00C8E0">
              <a:alpha val="30000"/>
            </a:srgbClr>
          </a:solidFill>
          <a:ln/>
        </p:spPr>
      </p:sp>
      <p:sp>
        <p:nvSpPr>
          <p:cNvPr id="32" name="Shape 30"/>
          <p:cNvSpPr/>
          <p:nvPr/>
        </p:nvSpPr>
        <p:spPr>
          <a:xfrm>
            <a:off x="7955280" y="4160520"/>
            <a:ext cx="73152" cy="73152"/>
          </a:xfrm>
          <a:prstGeom prst="ellipse">
            <a:avLst/>
          </a:prstGeom>
          <a:solidFill>
            <a:srgbClr val="00C8E0">
              <a:alpha val="30000"/>
            </a:srgbClr>
          </a:solidFill>
          <a:ln/>
        </p:spPr>
      </p:sp>
      <p:sp>
        <p:nvSpPr>
          <p:cNvPr id="33" name="Shape 31"/>
          <p:cNvSpPr/>
          <p:nvPr/>
        </p:nvSpPr>
        <p:spPr>
          <a:xfrm>
            <a:off x="8366760" y="4160520"/>
            <a:ext cx="73152" cy="73152"/>
          </a:xfrm>
          <a:prstGeom prst="ellipse">
            <a:avLst/>
          </a:prstGeom>
          <a:solidFill>
            <a:srgbClr val="00C8E0">
              <a:alpha val="30000"/>
            </a:srgbClr>
          </a:solidFill>
          <a:ln/>
        </p:spPr>
      </p:sp>
      <p:pic>
        <p:nvPicPr>
          <p:cNvPr id="34" name="Image 0" descr="preencoded.png"/>
          <p:cNvPicPr>
            <a:picLocks noChangeAspect="1"/>
          </p:cNvPicPr>
          <p:nvPr/>
        </p:nvPicPr>
        <p:blipFill>
          <a:blip r:embed="rId1"/>
          <a:stretch>
            <a:fillRect/>
          </a:stretch>
        </p:blipFill>
        <p:spPr>
          <a:xfrm>
            <a:off x="6812280" y="1417320"/>
            <a:ext cx="1645920" cy="1645920"/>
          </a:xfrm>
          <a:prstGeom prst="rect">
            <a:avLst/>
          </a:prstGeom>
        </p:spPr>
      </p:pic>
      <p:sp>
        <p:nvSpPr>
          <p:cNvPr id="35" name="Text 32"/>
          <p:cNvSpPr/>
          <p:nvPr/>
        </p:nvSpPr>
        <p:spPr>
          <a:xfrm>
            <a:off x="457200" y="777240"/>
            <a:ext cx="5943600" cy="594360"/>
          </a:xfrm>
          <a:prstGeom prst="rect">
            <a:avLst/>
          </a:prstGeom>
          <a:noFill/>
          <a:ln/>
        </p:spPr>
        <p:txBody>
          <a:bodyPr wrap="square" lIns="0" tIns="0" rIns="0" bIns="0" rtlCol="0" anchor="ctr"/>
          <a:lstStyle/>
          <a:p>
            <a:pPr indent="0" marL="0">
              <a:buNone/>
            </a:pPr>
            <a:r>
              <a:rPr lang="en-US" sz="2600" dirty="0">
                <a:solidFill>
                  <a:srgbClr val="0099B0"/>
                </a:solidFill>
                <a:latin typeface="Trebuchet MS" pitchFamily="34" charset="0"/>
                <a:ea typeface="Trebuchet MS" pitchFamily="34" charset="-122"/>
                <a:cs typeface="Trebuchet MS" pitchFamily="34" charset="-120"/>
              </a:rPr>
              <a:t>Security Analysis of</a:t>
            </a:r>
            <a:endParaRPr lang="en-US" sz="2600" dirty="0"/>
          </a:p>
        </p:txBody>
      </p:sp>
      <p:sp>
        <p:nvSpPr>
          <p:cNvPr id="36" name="Text 33"/>
          <p:cNvSpPr/>
          <p:nvPr/>
        </p:nvSpPr>
        <p:spPr>
          <a:xfrm>
            <a:off x="457200" y="1353312"/>
            <a:ext cx="5943600" cy="749808"/>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ML-Powered Android Apps</a:t>
            </a:r>
            <a:endParaRPr lang="en-US" sz="3200" dirty="0"/>
          </a:p>
        </p:txBody>
      </p:sp>
      <p:sp>
        <p:nvSpPr>
          <p:cNvPr id="37" name="Shape 34"/>
          <p:cNvSpPr/>
          <p:nvPr/>
        </p:nvSpPr>
        <p:spPr>
          <a:xfrm>
            <a:off x="457200" y="2194560"/>
            <a:ext cx="3657600" cy="45720"/>
          </a:xfrm>
          <a:prstGeom prst="rect">
            <a:avLst/>
          </a:prstGeom>
          <a:solidFill>
            <a:srgbClr val="00C8E0"/>
          </a:solidFill>
          <a:ln/>
        </p:spPr>
      </p:sp>
      <p:sp>
        <p:nvSpPr>
          <p:cNvPr id="38" name="Text 35"/>
          <p:cNvSpPr/>
          <p:nvPr/>
        </p:nvSpPr>
        <p:spPr>
          <a:xfrm>
            <a:off x="457200" y="2331720"/>
            <a:ext cx="5943600" cy="777240"/>
          </a:xfrm>
          <a:prstGeom prst="rect">
            <a:avLst/>
          </a:prstGeom>
          <a:noFill/>
          <a:ln/>
        </p:spPr>
        <p:txBody>
          <a:bodyPr wrap="square" lIns="0" tIns="0" rIns="0" bIns="0" rtlCol="0" anchor="ctr"/>
          <a:lstStyle/>
          <a:p>
            <a:pPr indent="0" marL="0">
              <a:buNone/>
            </a:pPr>
            <a:r>
              <a:rPr lang="en-US" sz="1250" i="1" dirty="0">
                <a:solidFill>
                  <a:srgbClr val="A0C8E8"/>
                </a:solidFill>
                <a:latin typeface="Calibri" pitchFamily="34" charset="0"/>
                <a:ea typeface="Calibri" pitchFamily="34" charset="-122"/>
                <a:cs typeface="Calibri" pitchFamily="34" charset="-120"/>
              </a:rPr>
              <a:t>Can Truth Serum-style poisoning attacks reach</a:t>
            </a:r>
            <a:endParaRPr lang="en-US" sz="1250" dirty="0"/>
          </a:p>
          <a:p>
            <a:pPr indent="0" marL="0">
              <a:buNone/>
            </a:pPr>
            <a:r>
              <a:rPr lang="en-US" sz="1250" i="1" dirty="0">
                <a:solidFill>
                  <a:srgbClr val="A0C8E8"/>
                </a:solidFill>
                <a:latin typeface="Calibri" pitchFamily="34" charset="0"/>
                <a:ea typeface="Calibri" pitchFamily="34" charset="-122"/>
                <a:cs typeface="Calibri" pitchFamily="34" charset="-120"/>
              </a:rPr>
              <a:t>real Android apps through ML pipeline flaws?</a:t>
            </a:r>
            <a:endParaRPr lang="en-US" sz="1250" dirty="0"/>
          </a:p>
        </p:txBody>
      </p:sp>
      <p:sp>
        <p:nvSpPr>
          <p:cNvPr id="39" name="Shape 36"/>
          <p:cNvSpPr/>
          <p:nvPr/>
        </p:nvSpPr>
        <p:spPr>
          <a:xfrm>
            <a:off x="457200" y="3291840"/>
            <a:ext cx="1554480" cy="274320"/>
          </a:xfrm>
          <a:prstGeom prst="rect">
            <a:avLst/>
          </a:prstGeom>
          <a:solidFill>
            <a:srgbClr val="0B72BD"/>
          </a:solidFill>
          <a:ln/>
          <a:effectLst>
            <a:outerShdw sx="100000" sy="100000" kx="0" ky="0" algn="bl" rotWithShape="0" blurRad="101600" dist="38100" dir="8100000">
              <a:srgbClr val="000000">
                <a:alpha val="10000"/>
              </a:srgbClr>
            </a:outerShdw>
          </a:effectLst>
        </p:spPr>
      </p:sp>
      <p:sp>
        <p:nvSpPr>
          <p:cNvPr id="40" name="Text 37"/>
          <p:cNvSpPr/>
          <p:nvPr/>
        </p:nvSpPr>
        <p:spPr>
          <a:xfrm>
            <a:off x="457200" y="3291840"/>
            <a:ext cx="15544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CS 6491</a:t>
            </a:r>
            <a:endParaRPr lang="en-US" sz="1050" dirty="0"/>
          </a:p>
        </p:txBody>
      </p:sp>
      <p:sp>
        <p:nvSpPr>
          <p:cNvPr id="41" name="Shape 38"/>
          <p:cNvSpPr/>
          <p:nvPr/>
        </p:nvSpPr>
        <p:spPr>
          <a:xfrm>
            <a:off x="2148840" y="3291840"/>
            <a:ext cx="2286000" cy="274320"/>
          </a:xfrm>
          <a:prstGeom prst="rect">
            <a:avLst/>
          </a:prstGeom>
          <a:solidFill>
            <a:srgbClr val="1B4965"/>
          </a:solidFill>
          <a:ln/>
          <a:effectLst>
            <a:outerShdw sx="100000" sy="100000" kx="0" ky="0" algn="bl" rotWithShape="0" blurRad="101600" dist="38100" dir="8100000">
              <a:srgbClr val="000000">
                <a:alpha val="10000"/>
              </a:srgbClr>
            </a:outerShdw>
          </a:effectLst>
        </p:spPr>
      </p:sp>
      <p:sp>
        <p:nvSpPr>
          <p:cNvPr id="42" name="Text 39"/>
          <p:cNvSpPr/>
          <p:nvPr/>
        </p:nvSpPr>
        <p:spPr>
          <a:xfrm>
            <a:off x="2148840" y="3291840"/>
            <a:ext cx="2286000" cy="274320"/>
          </a:xfrm>
          <a:prstGeom prst="rect">
            <a:avLst/>
          </a:prstGeom>
          <a:noFill/>
          <a:ln/>
        </p:spPr>
        <p:txBody>
          <a:bodyPr wrap="square" lIns="0" tIns="0" rIns="0" bIns="0" rtlCol="0" anchor="ctr"/>
          <a:lstStyle/>
          <a:p>
            <a:pPr algn="ctr" indent="0" marL="0">
              <a:buNone/>
            </a:pPr>
            <a:r>
              <a:rPr lang="en-US" sz="1050" dirty="0">
                <a:solidFill>
                  <a:srgbClr val="0099B0"/>
                </a:solidFill>
                <a:latin typeface="Calibri" pitchFamily="34" charset="0"/>
                <a:ea typeface="Calibri" pitchFamily="34" charset="-122"/>
                <a:cs typeface="Calibri" pitchFamily="34" charset="-120"/>
              </a:rPr>
              <a:t>Computer Security</a:t>
            </a:r>
            <a:endParaRPr lang="en-US" sz="1050" dirty="0"/>
          </a:p>
        </p:txBody>
      </p:sp>
      <p:sp>
        <p:nvSpPr>
          <p:cNvPr id="43" name="Shape 40"/>
          <p:cNvSpPr/>
          <p:nvPr/>
        </p:nvSpPr>
        <p:spPr>
          <a:xfrm>
            <a:off x="0" y="4800600"/>
            <a:ext cx="9144000" cy="342900"/>
          </a:xfrm>
          <a:prstGeom prst="rect">
            <a:avLst/>
          </a:prstGeom>
          <a:solidFill>
            <a:srgbClr val="112240"/>
          </a:solidFill>
          <a:ln/>
        </p:spPr>
      </p:sp>
      <p:sp>
        <p:nvSpPr>
          <p:cNvPr id="44" name="Text 41"/>
          <p:cNvSpPr/>
          <p:nvPr/>
        </p:nvSpPr>
        <p:spPr>
          <a:xfrm>
            <a:off x="365760" y="4818888"/>
            <a:ext cx="8412480" cy="301752"/>
          </a:xfrm>
          <a:prstGeom prst="rect">
            <a:avLst/>
          </a:prstGeom>
          <a:noFill/>
          <a:ln/>
        </p:spPr>
        <p:txBody>
          <a:bodyPr wrap="square" lIns="0" tIns="0" rIns="0" bIns="0" rtlCol="0" anchor="ctr"/>
          <a:lstStyle/>
          <a:p>
            <a:pPr indent="0" marL="0">
              <a:buNone/>
            </a:pPr>
            <a:r>
              <a:rPr lang="en-US" sz="1000" dirty="0">
                <a:solidFill>
                  <a:srgbClr val="7AAEC8"/>
                </a:solidFill>
                <a:latin typeface="Calibri" pitchFamily="34" charset="0"/>
                <a:ea typeface="Calibri" pitchFamily="34" charset="-122"/>
                <a:cs typeface="Calibri" pitchFamily="34" charset="-120"/>
              </a:rPr>
              <a:t>University of Utah  •  Emma  •  Spring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sp>
      <p:sp>
        <p:nvSpPr>
          <p:cNvPr id="3" name="Text 1"/>
          <p:cNvSpPr/>
          <p:nvPr/>
        </p:nvSpPr>
        <p:spPr>
          <a:xfrm>
            <a:off x="365760" y="73152"/>
            <a:ext cx="8412480" cy="475488"/>
          </a:xfrm>
          <a:prstGeom prst="rect">
            <a:avLst/>
          </a:prstGeom>
          <a:noFill/>
          <a:ln/>
        </p:spPr>
        <p:txBody>
          <a:bodyPr wrap="square" lIns="0" tIns="0" rIns="0" bIns="0" rtlCol="0" anchor="ctr"/>
          <a:lstStyle/>
          <a:p>
            <a:pPr indent="0" marL="0">
              <a:buNone/>
            </a:pPr>
            <a:r>
              <a:rPr lang="en-US" sz="2000" b="1" dirty="0">
                <a:solidFill>
                  <a:srgbClr val="00C8E0"/>
                </a:solidFill>
                <a:latin typeface="Trebuchet MS" pitchFamily="34" charset="0"/>
                <a:ea typeface="Trebuchet MS" pitchFamily="34" charset="-122"/>
                <a:cs typeface="Trebuchet MS" pitchFamily="34" charset="-120"/>
              </a:rPr>
              <a:t>The Problem: A Confirmed, Unstudied Attack Surface</a:t>
            </a:r>
            <a:endParaRPr lang="en-US" sz="2000" dirty="0"/>
          </a:p>
        </p:txBody>
      </p:sp>
      <p:sp>
        <p:nvSpPr>
          <p:cNvPr id="4" name="Text 2"/>
          <p:cNvSpPr/>
          <p:nvPr/>
        </p:nvSpPr>
        <p:spPr>
          <a:xfrm>
            <a:off x="365760" y="566928"/>
            <a:ext cx="8412480" cy="292608"/>
          </a:xfrm>
          <a:prstGeom prst="rect">
            <a:avLst/>
          </a:prstGeom>
          <a:noFill/>
          <a:ln/>
        </p:spPr>
        <p:txBody>
          <a:bodyPr wrap="square" lIns="0" tIns="0" rIns="0" bIns="0" rtlCol="0" anchor="ctr"/>
          <a:lstStyle/>
          <a:p>
            <a:pPr indent="0" marL="0">
              <a:buNone/>
            </a:pPr>
            <a:r>
              <a:rPr lang="en-US" sz="1050" i="1" dirty="0">
                <a:solidFill>
                  <a:srgbClr val="0099B0"/>
                </a:solidFill>
                <a:latin typeface="Calibri" pitchFamily="34" charset="0"/>
                <a:ea typeface="Calibri" pitchFamily="34" charset="-122"/>
                <a:cs typeface="Calibri" pitchFamily="34" charset="-120"/>
              </a:rPr>
              <a:t>Prior work covers traditional Android security — ML components remain outside the scope of every existing tool</a:t>
            </a:r>
            <a:endParaRPr lang="en-US" sz="1050" dirty="0"/>
          </a:p>
        </p:txBody>
      </p:sp>
      <p:sp>
        <p:nvSpPr>
          <p:cNvPr id="5" name="Shape 3"/>
          <p:cNvSpPr/>
          <p:nvPr/>
        </p:nvSpPr>
        <p:spPr>
          <a:xfrm>
            <a:off x="320040" y="1005840"/>
            <a:ext cx="2724912" cy="233172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1005840"/>
            <a:ext cx="2724912" cy="64008"/>
          </a:xfrm>
          <a:prstGeom prst="rect">
            <a:avLst/>
          </a:prstGeom>
          <a:solidFill>
            <a:srgbClr val="059669"/>
          </a:solidFill>
          <a:ln/>
        </p:spPr>
      </p:sp>
      <p:pic>
        <p:nvPicPr>
          <p:cNvPr id="7" name="Image 0" descr="preencoded.png"/>
          <p:cNvPicPr>
            <a:picLocks noChangeAspect="1"/>
          </p:cNvPicPr>
          <p:nvPr/>
        </p:nvPicPr>
        <p:blipFill>
          <a:blip r:embed="rId1"/>
          <a:stretch>
            <a:fillRect/>
          </a:stretch>
        </p:blipFill>
        <p:spPr>
          <a:xfrm>
            <a:off x="1362456" y="1170432"/>
            <a:ext cx="594360" cy="594360"/>
          </a:xfrm>
          <a:prstGeom prst="rect">
            <a:avLst/>
          </a:prstGeom>
        </p:spPr>
      </p:pic>
      <p:sp>
        <p:nvSpPr>
          <p:cNvPr id="8" name="Text 5"/>
          <p:cNvSpPr/>
          <p:nvPr/>
        </p:nvSpPr>
        <p:spPr>
          <a:xfrm>
            <a:off x="320040" y="1847088"/>
            <a:ext cx="2724912" cy="658368"/>
          </a:xfrm>
          <a:prstGeom prst="rect">
            <a:avLst/>
          </a:prstGeom>
          <a:noFill/>
          <a:ln/>
        </p:spPr>
        <p:txBody>
          <a:bodyPr wrap="square" lIns="0" tIns="0" rIns="0" bIns="0" rtlCol="0" anchor="ctr"/>
          <a:lstStyle/>
          <a:p>
            <a:pPr algn="ctr" indent="0" marL="0">
              <a:buNone/>
            </a:pPr>
            <a:r>
              <a:rPr lang="en-US" sz="3800" b="1" dirty="0">
                <a:solidFill>
                  <a:srgbClr val="059669"/>
                </a:solidFill>
                <a:latin typeface="Trebuchet MS" pitchFamily="34" charset="0"/>
                <a:ea typeface="Trebuchet MS" pitchFamily="34" charset="-122"/>
                <a:cs typeface="Trebuchet MS" pitchFamily="34" charset="-120"/>
              </a:rPr>
              <a:t>3.5B+</a:t>
            </a:r>
            <a:endParaRPr lang="en-US" sz="3800" dirty="0"/>
          </a:p>
        </p:txBody>
      </p:sp>
      <p:sp>
        <p:nvSpPr>
          <p:cNvPr id="9" name="Text 6"/>
          <p:cNvSpPr/>
          <p:nvPr/>
        </p:nvSpPr>
        <p:spPr>
          <a:xfrm>
            <a:off x="411480" y="2542032"/>
            <a:ext cx="2542032" cy="713232"/>
          </a:xfrm>
          <a:prstGeom prst="rect">
            <a:avLst/>
          </a:prstGeom>
          <a:noFill/>
          <a:ln/>
        </p:spPr>
        <p:txBody>
          <a:bodyPr wrap="square" lIns="0" tIns="0" rIns="0" bIns="0" rtlCol="0" anchor="ctr"/>
          <a:lstStyle/>
          <a:p>
            <a:pPr algn="ctr" indent="0" marL="0">
              <a:buNone/>
            </a:pPr>
            <a:r>
              <a:rPr lang="en-US" sz="1000" dirty="0">
                <a:solidFill>
                  <a:srgbClr val="3A5068"/>
                </a:solidFill>
                <a:latin typeface="Calibri" pitchFamily="34" charset="0"/>
                <a:ea typeface="Calibri" pitchFamily="34" charset="-122"/>
                <a:cs typeface="Calibri" pitchFamily="34" charset="-120"/>
              </a:rPr>
              <a:t>Android devices; 60%+ of top-100 Play apps embed TFLite, ONNX, or ML Kit</a:t>
            </a:r>
            <a:endParaRPr lang="en-US" sz="1000" dirty="0"/>
          </a:p>
        </p:txBody>
      </p:sp>
      <p:sp>
        <p:nvSpPr>
          <p:cNvPr id="10" name="Shape 7"/>
          <p:cNvSpPr/>
          <p:nvPr/>
        </p:nvSpPr>
        <p:spPr>
          <a:xfrm>
            <a:off x="3172968" y="1005840"/>
            <a:ext cx="2724912" cy="233172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3172968" y="1005840"/>
            <a:ext cx="2724912" cy="64008"/>
          </a:xfrm>
          <a:prstGeom prst="rect">
            <a:avLst/>
          </a:prstGeom>
          <a:solidFill>
            <a:srgbClr val="0B72BD"/>
          </a:solidFill>
          <a:ln/>
        </p:spPr>
      </p:sp>
      <p:pic>
        <p:nvPicPr>
          <p:cNvPr id="12" name="Image 1" descr="preencoded.png"/>
          <p:cNvPicPr>
            <a:picLocks noChangeAspect="1"/>
          </p:cNvPicPr>
          <p:nvPr/>
        </p:nvPicPr>
        <p:blipFill>
          <a:blip r:embed="rId2"/>
          <a:stretch>
            <a:fillRect/>
          </a:stretch>
        </p:blipFill>
        <p:spPr>
          <a:xfrm>
            <a:off x="4215384" y="1170432"/>
            <a:ext cx="594360" cy="594360"/>
          </a:xfrm>
          <a:prstGeom prst="rect">
            <a:avLst/>
          </a:prstGeom>
        </p:spPr>
      </p:pic>
      <p:sp>
        <p:nvSpPr>
          <p:cNvPr id="13" name="Text 9"/>
          <p:cNvSpPr/>
          <p:nvPr/>
        </p:nvSpPr>
        <p:spPr>
          <a:xfrm>
            <a:off x="3172968" y="1847088"/>
            <a:ext cx="2724912" cy="658368"/>
          </a:xfrm>
          <a:prstGeom prst="rect">
            <a:avLst/>
          </a:prstGeom>
          <a:noFill/>
          <a:ln/>
        </p:spPr>
        <p:txBody>
          <a:bodyPr wrap="square" lIns="0" tIns="0" rIns="0" bIns="0" rtlCol="0" anchor="ctr"/>
          <a:lstStyle/>
          <a:p>
            <a:pPr algn="ctr" indent="0" marL="0">
              <a:buNone/>
            </a:pPr>
            <a:r>
              <a:rPr lang="en-US" sz="3800" b="1" dirty="0">
                <a:solidFill>
                  <a:srgbClr val="0B72BD"/>
                </a:solidFill>
                <a:latin typeface="Trebuchet MS" pitchFamily="34" charset="0"/>
                <a:ea typeface="Trebuchet MS" pitchFamily="34" charset="-122"/>
                <a:cs typeface="Trebuchet MS" pitchFamily="34" charset="-120"/>
              </a:rPr>
              <a:t>~0</a:t>
            </a:r>
            <a:endParaRPr lang="en-US" sz="3800" dirty="0"/>
          </a:p>
        </p:txBody>
      </p:sp>
      <p:sp>
        <p:nvSpPr>
          <p:cNvPr id="14" name="Text 10"/>
          <p:cNvSpPr/>
          <p:nvPr/>
        </p:nvSpPr>
        <p:spPr>
          <a:xfrm>
            <a:off x="3264408" y="2542032"/>
            <a:ext cx="2542032" cy="713232"/>
          </a:xfrm>
          <a:prstGeom prst="rect">
            <a:avLst/>
          </a:prstGeom>
          <a:noFill/>
          <a:ln/>
        </p:spPr>
        <p:txBody>
          <a:bodyPr wrap="square" lIns="0" tIns="0" rIns="0" bIns="0" rtlCol="0" anchor="ctr"/>
          <a:lstStyle/>
          <a:p>
            <a:pPr algn="ctr" indent="0" marL="0">
              <a:buNone/>
            </a:pPr>
            <a:r>
              <a:rPr lang="en-US" sz="1000" dirty="0">
                <a:solidFill>
                  <a:srgbClr val="3A5068"/>
                </a:solidFill>
                <a:latin typeface="Calibri" pitchFamily="34" charset="0"/>
                <a:ea typeface="Calibri" pitchFamily="34" charset="-122"/>
                <a:cs typeface="Calibri" pitchFamily="34" charset="-120"/>
              </a:rPr>
              <a:t>Peer-reviewed audits of on-device ML pipeline security in Android apps</a:t>
            </a:r>
            <a:endParaRPr lang="en-US" sz="1000" dirty="0"/>
          </a:p>
        </p:txBody>
      </p:sp>
      <p:sp>
        <p:nvSpPr>
          <p:cNvPr id="15" name="Shape 11"/>
          <p:cNvSpPr/>
          <p:nvPr/>
        </p:nvSpPr>
        <p:spPr>
          <a:xfrm>
            <a:off x="6025896" y="1005840"/>
            <a:ext cx="2724912" cy="233172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16" name="Shape 12"/>
          <p:cNvSpPr/>
          <p:nvPr/>
        </p:nvSpPr>
        <p:spPr>
          <a:xfrm>
            <a:off x="6025896" y="1005840"/>
            <a:ext cx="2724912" cy="64008"/>
          </a:xfrm>
          <a:prstGeom prst="rect">
            <a:avLst/>
          </a:prstGeom>
          <a:solidFill>
            <a:srgbClr val="D97706"/>
          </a:solidFill>
          <a:ln/>
        </p:spPr>
      </p:sp>
      <p:pic>
        <p:nvPicPr>
          <p:cNvPr id="17" name="Image 2" descr="preencoded.png"/>
          <p:cNvPicPr>
            <a:picLocks noChangeAspect="1"/>
          </p:cNvPicPr>
          <p:nvPr/>
        </p:nvPicPr>
        <p:blipFill>
          <a:blip r:embed="rId3"/>
          <a:stretch>
            <a:fillRect/>
          </a:stretch>
        </p:blipFill>
        <p:spPr>
          <a:xfrm>
            <a:off x="7068312" y="1170432"/>
            <a:ext cx="594360" cy="594360"/>
          </a:xfrm>
          <a:prstGeom prst="rect">
            <a:avLst/>
          </a:prstGeom>
        </p:spPr>
      </p:pic>
      <p:sp>
        <p:nvSpPr>
          <p:cNvPr id="18" name="Text 13"/>
          <p:cNvSpPr/>
          <p:nvPr/>
        </p:nvSpPr>
        <p:spPr>
          <a:xfrm>
            <a:off x="6025896" y="1847088"/>
            <a:ext cx="2724912" cy="658368"/>
          </a:xfrm>
          <a:prstGeom prst="rect">
            <a:avLst/>
          </a:prstGeom>
          <a:noFill/>
          <a:ln/>
        </p:spPr>
        <p:txBody>
          <a:bodyPr wrap="square" lIns="0" tIns="0" rIns="0" bIns="0" rtlCol="0" anchor="ctr"/>
          <a:lstStyle/>
          <a:p>
            <a:pPr algn="ctr" indent="0" marL="0">
              <a:buNone/>
            </a:pPr>
            <a:r>
              <a:rPr lang="en-US" sz="3800" b="1" dirty="0">
                <a:solidFill>
                  <a:srgbClr val="D97706"/>
                </a:solidFill>
                <a:latin typeface="Trebuchet MS" pitchFamily="34" charset="0"/>
                <a:ea typeface="Trebuchet MS" pitchFamily="34" charset="-122"/>
                <a:cs typeface="Trebuchet MS" pitchFamily="34" charset="-120"/>
              </a:rPr>
              <a:t>Gap</a:t>
            </a:r>
            <a:endParaRPr lang="en-US" sz="3800" dirty="0"/>
          </a:p>
        </p:txBody>
      </p:sp>
      <p:sp>
        <p:nvSpPr>
          <p:cNvPr id="19" name="Text 14"/>
          <p:cNvSpPr/>
          <p:nvPr/>
        </p:nvSpPr>
        <p:spPr>
          <a:xfrm>
            <a:off x="6117336" y="2542032"/>
            <a:ext cx="2542032" cy="713232"/>
          </a:xfrm>
          <a:prstGeom prst="rect">
            <a:avLst/>
          </a:prstGeom>
          <a:noFill/>
          <a:ln/>
        </p:spPr>
        <p:txBody>
          <a:bodyPr wrap="square" lIns="0" tIns="0" rIns="0" bIns="0" rtlCol="0" anchor="ctr"/>
          <a:lstStyle/>
          <a:p>
            <a:pPr algn="ctr" indent="0" marL="0">
              <a:buNone/>
            </a:pPr>
            <a:r>
              <a:rPr lang="en-US" sz="1000" dirty="0">
                <a:solidFill>
                  <a:srgbClr val="3A5068"/>
                </a:solidFill>
                <a:latin typeface="Calibri" pitchFamily="34" charset="0"/>
                <a:ea typeface="Calibri" pitchFamily="34" charset="-122"/>
                <a:cs typeface="Calibri" pitchFamily="34" charset="-120"/>
              </a:rPr>
              <a:t>FlowDroid &amp; Soot were designed before on-device ML existed — ML data flows are invisible to them</a:t>
            </a:r>
            <a:endParaRPr lang="en-US" sz="1000" dirty="0"/>
          </a:p>
        </p:txBody>
      </p:sp>
      <p:sp>
        <p:nvSpPr>
          <p:cNvPr id="20" name="Shape 15"/>
          <p:cNvSpPr/>
          <p:nvPr/>
        </p:nvSpPr>
        <p:spPr>
          <a:xfrm>
            <a:off x="320040" y="3401568"/>
            <a:ext cx="8503920" cy="237744"/>
          </a:xfrm>
          <a:prstGeom prst="rect">
            <a:avLst/>
          </a:prstGeom>
          <a:solidFill>
            <a:srgbClr val="0A1628"/>
          </a:solidFill>
          <a:ln/>
        </p:spPr>
      </p:sp>
      <p:sp>
        <p:nvSpPr>
          <p:cNvPr id="21" name="Text 16"/>
          <p:cNvSpPr/>
          <p:nvPr/>
        </p:nvSpPr>
        <p:spPr>
          <a:xfrm>
            <a:off x="457200" y="3419856"/>
            <a:ext cx="8229600" cy="201168"/>
          </a:xfrm>
          <a:prstGeom prst="rect">
            <a:avLst/>
          </a:prstGeom>
          <a:noFill/>
          <a:ln/>
        </p:spPr>
        <p:txBody>
          <a:bodyPr wrap="square" lIns="0" tIns="0" rIns="0" bIns="0" rtlCol="0" anchor="ctr"/>
          <a:lstStyle/>
          <a:p>
            <a:pPr indent="0" marL="0">
              <a:buNone/>
            </a:pPr>
            <a:r>
              <a:rPr lang="en-US" sz="900" b="1" dirty="0">
                <a:solidFill>
                  <a:srgbClr val="00C8E0"/>
                </a:solidFill>
                <a:latin typeface="Trebuchet MS" pitchFamily="34" charset="0"/>
                <a:ea typeface="Trebuchet MS" pitchFamily="34" charset="-122"/>
                <a:cs typeface="Trebuchet MS" pitchFamily="34" charset="-120"/>
              </a:rPr>
              <a:t>RELATED WORK  —  Where the gap lives:</a:t>
            </a:r>
            <a:endParaRPr lang="en-US" sz="900" dirty="0"/>
          </a:p>
        </p:txBody>
      </p:sp>
      <p:sp>
        <p:nvSpPr>
          <p:cNvPr id="22" name="Shape 17"/>
          <p:cNvSpPr/>
          <p:nvPr/>
        </p:nvSpPr>
        <p:spPr>
          <a:xfrm>
            <a:off x="320040" y="3657600"/>
            <a:ext cx="2724912" cy="1280160"/>
          </a:xfrm>
          <a:prstGeom prst="rect">
            <a:avLst/>
          </a:prstGeom>
          <a:solidFill>
            <a:srgbClr val="E8F4FD"/>
          </a:solidFill>
          <a:ln w="6350">
            <a:solidFill>
              <a:srgbClr val="B8D8F0"/>
            </a:solidFill>
            <a:prstDash val="solid"/>
          </a:ln>
        </p:spPr>
      </p:sp>
      <p:sp>
        <p:nvSpPr>
          <p:cNvPr id="23" name="Shape 18"/>
          <p:cNvSpPr/>
          <p:nvPr/>
        </p:nvSpPr>
        <p:spPr>
          <a:xfrm>
            <a:off x="320040" y="3657600"/>
            <a:ext cx="2724912" cy="45720"/>
          </a:xfrm>
          <a:prstGeom prst="rect">
            <a:avLst/>
          </a:prstGeom>
          <a:solidFill>
            <a:srgbClr val="0B72BD"/>
          </a:solidFill>
          <a:ln/>
        </p:spPr>
      </p:sp>
      <p:sp>
        <p:nvSpPr>
          <p:cNvPr id="24" name="Text 19"/>
          <p:cNvSpPr/>
          <p:nvPr/>
        </p:nvSpPr>
        <p:spPr>
          <a:xfrm>
            <a:off x="411480" y="3730752"/>
            <a:ext cx="2542032" cy="347472"/>
          </a:xfrm>
          <a:prstGeom prst="rect">
            <a:avLst/>
          </a:prstGeom>
          <a:noFill/>
          <a:ln/>
        </p:spPr>
        <p:txBody>
          <a:bodyPr wrap="square" lIns="0" tIns="0" rIns="0" bIns="0" rtlCol="0" anchor="ctr"/>
          <a:lstStyle/>
          <a:p>
            <a:pPr indent="0" marL="0">
              <a:buNone/>
            </a:pPr>
            <a:r>
              <a:rPr lang="en-US" sz="950" b="1" dirty="0">
                <a:solidFill>
                  <a:srgbClr val="0B72BD"/>
                </a:solidFill>
                <a:latin typeface="Trebuchet MS" pitchFamily="34" charset="0"/>
                <a:ea typeface="Trebuchet MS" pitchFamily="34" charset="-122"/>
                <a:cs typeface="Trebuchet MS" pitchFamily="34" charset="-120"/>
              </a:rPr>
              <a:t>Arzt et al. (FlowDroid, PLDI'14)</a:t>
            </a:r>
            <a:endParaRPr lang="en-US" sz="950" dirty="0"/>
          </a:p>
        </p:txBody>
      </p:sp>
      <p:sp>
        <p:nvSpPr>
          <p:cNvPr id="25" name="Shape 20"/>
          <p:cNvSpPr/>
          <p:nvPr/>
        </p:nvSpPr>
        <p:spPr>
          <a:xfrm>
            <a:off x="411480" y="4114800"/>
            <a:ext cx="2542032" cy="36576"/>
          </a:xfrm>
          <a:prstGeom prst="rect">
            <a:avLst/>
          </a:prstGeom>
          <a:solidFill>
            <a:srgbClr val="C8DFF0"/>
          </a:solidFill>
          <a:ln/>
        </p:spPr>
      </p:sp>
      <p:sp>
        <p:nvSpPr>
          <p:cNvPr id="26" name="Text 21"/>
          <p:cNvSpPr/>
          <p:nvPr/>
        </p:nvSpPr>
        <p:spPr>
          <a:xfrm>
            <a:off x="411480" y="4187952"/>
            <a:ext cx="2542032" cy="658368"/>
          </a:xfrm>
          <a:prstGeom prst="rect">
            <a:avLst/>
          </a:prstGeom>
          <a:noFill/>
          <a:ln/>
        </p:spPr>
        <p:txBody>
          <a:bodyPr wrap="square" lIns="0" tIns="0" rIns="0" bIns="0" rtlCol="0" anchor="ctr"/>
          <a:lstStyle/>
          <a:p>
            <a:pPr indent="0" marL="0">
              <a:buNone/>
            </a:pPr>
            <a:r>
              <a:rPr lang="en-US" sz="950" i="1" dirty="0">
                <a:solidFill>
                  <a:srgbClr val="DC2626"/>
                </a:solidFill>
                <a:latin typeface="Calibri" pitchFamily="34" charset="0"/>
                <a:ea typeface="Calibri" pitchFamily="34" charset="-122"/>
                <a:cs typeface="Calibri" pitchFamily="34" charset="-120"/>
              </a:rPr>
              <a:t>No ML-specific sources/sinks</a:t>
            </a:r>
            <a:endParaRPr lang="en-US" sz="950" dirty="0"/>
          </a:p>
        </p:txBody>
      </p:sp>
      <p:sp>
        <p:nvSpPr>
          <p:cNvPr id="27" name="Shape 22"/>
          <p:cNvSpPr/>
          <p:nvPr/>
        </p:nvSpPr>
        <p:spPr>
          <a:xfrm>
            <a:off x="3172968" y="3657600"/>
            <a:ext cx="2724912" cy="1280160"/>
          </a:xfrm>
          <a:prstGeom prst="rect">
            <a:avLst/>
          </a:prstGeom>
          <a:solidFill>
            <a:srgbClr val="E8F4FD"/>
          </a:solidFill>
          <a:ln w="6350">
            <a:solidFill>
              <a:srgbClr val="B8D8F0"/>
            </a:solidFill>
            <a:prstDash val="solid"/>
          </a:ln>
        </p:spPr>
      </p:sp>
      <p:sp>
        <p:nvSpPr>
          <p:cNvPr id="28" name="Shape 23"/>
          <p:cNvSpPr/>
          <p:nvPr/>
        </p:nvSpPr>
        <p:spPr>
          <a:xfrm>
            <a:off x="3172968" y="3657600"/>
            <a:ext cx="2724912" cy="45720"/>
          </a:xfrm>
          <a:prstGeom prst="rect">
            <a:avLst/>
          </a:prstGeom>
          <a:solidFill>
            <a:srgbClr val="0B72BD"/>
          </a:solidFill>
          <a:ln/>
        </p:spPr>
      </p:sp>
      <p:sp>
        <p:nvSpPr>
          <p:cNvPr id="29" name="Text 24"/>
          <p:cNvSpPr/>
          <p:nvPr/>
        </p:nvSpPr>
        <p:spPr>
          <a:xfrm>
            <a:off x="3264408" y="3730752"/>
            <a:ext cx="2542032" cy="347472"/>
          </a:xfrm>
          <a:prstGeom prst="rect">
            <a:avLst/>
          </a:prstGeom>
          <a:noFill/>
          <a:ln/>
        </p:spPr>
        <p:txBody>
          <a:bodyPr wrap="square" lIns="0" tIns="0" rIns="0" bIns="0" rtlCol="0" anchor="ctr"/>
          <a:lstStyle/>
          <a:p>
            <a:pPr indent="0" marL="0">
              <a:buNone/>
            </a:pPr>
            <a:r>
              <a:rPr lang="en-US" sz="950" b="1" dirty="0">
                <a:solidFill>
                  <a:srgbClr val="0B72BD"/>
                </a:solidFill>
                <a:latin typeface="Trebuchet MS" pitchFamily="34" charset="0"/>
                <a:ea typeface="Trebuchet MS" pitchFamily="34" charset="-122"/>
                <a:cs typeface="Trebuchet MS" pitchFamily="34" charset="-120"/>
              </a:rPr>
              <a:t>Enck et al. (TaintDroid, OSDI'10)</a:t>
            </a:r>
            <a:endParaRPr lang="en-US" sz="950" dirty="0"/>
          </a:p>
        </p:txBody>
      </p:sp>
      <p:sp>
        <p:nvSpPr>
          <p:cNvPr id="30" name="Shape 25"/>
          <p:cNvSpPr/>
          <p:nvPr/>
        </p:nvSpPr>
        <p:spPr>
          <a:xfrm>
            <a:off x="3264408" y="4114800"/>
            <a:ext cx="2542032" cy="36576"/>
          </a:xfrm>
          <a:prstGeom prst="rect">
            <a:avLst/>
          </a:prstGeom>
          <a:solidFill>
            <a:srgbClr val="C8DFF0"/>
          </a:solidFill>
          <a:ln/>
        </p:spPr>
      </p:sp>
      <p:sp>
        <p:nvSpPr>
          <p:cNvPr id="31" name="Text 26"/>
          <p:cNvSpPr/>
          <p:nvPr/>
        </p:nvSpPr>
        <p:spPr>
          <a:xfrm>
            <a:off x="3264408" y="4187952"/>
            <a:ext cx="2542032" cy="658368"/>
          </a:xfrm>
          <a:prstGeom prst="rect">
            <a:avLst/>
          </a:prstGeom>
          <a:noFill/>
          <a:ln/>
        </p:spPr>
        <p:txBody>
          <a:bodyPr wrap="square" lIns="0" tIns="0" rIns="0" bIns="0" rtlCol="0" anchor="ctr"/>
          <a:lstStyle/>
          <a:p>
            <a:pPr indent="0" marL="0">
              <a:buNone/>
            </a:pPr>
            <a:r>
              <a:rPr lang="en-US" sz="950" i="1" dirty="0">
                <a:solidFill>
                  <a:srgbClr val="DC2626"/>
                </a:solidFill>
                <a:latin typeface="Calibri" pitchFamily="34" charset="0"/>
                <a:ea typeface="Calibri" pitchFamily="34" charset="-122"/>
                <a:cs typeface="Calibri" pitchFamily="34" charset="-120"/>
              </a:rPr>
              <a:t>Predates on-device ML entirely</a:t>
            </a:r>
            <a:endParaRPr lang="en-US" sz="950" dirty="0"/>
          </a:p>
        </p:txBody>
      </p:sp>
      <p:sp>
        <p:nvSpPr>
          <p:cNvPr id="32" name="Shape 27"/>
          <p:cNvSpPr/>
          <p:nvPr/>
        </p:nvSpPr>
        <p:spPr>
          <a:xfrm>
            <a:off x="6025896" y="3657600"/>
            <a:ext cx="2724912" cy="1280160"/>
          </a:xfrm>
          <a:prstGeom prst="rect">
            <a:avLst/>
          </a:prstGeom>
          <a:solidFill>
            <a:srgbClr val="E8F4FD"/>
          </a:solidFill>
          <a:ln w="6350">
            <a:solidFill>
              <a:srgbClr val="B8D8F0"/>
            </a:solidFill>
            <a:prstDash val="solid"/>
          </a:ln>
        </p:spPr>
      </p:sp>
      <p:sp>
        <p:nvSpPr>
          <p:cNvPr id="33" name="Shape 28"/>
          <p:cNvSpPr/>
          <p:nvPr/>
        </p:nvSpPr>
        <p:spPr>
          <a:xfrm>
            <a:off x="6025896" y="3657600"/>
            <a:ext cx="2724912" cy="45720"/>
          </a:xfrm>
          <a:prstGeom prst="rect">
            <a:avLst/>
          </a:prstGeom>
          <a:solidFill>
            <a:srgbClr val="0B72BD"/>
          </a:solidFill>
          <a:ln/>
        </p:spPr>
      </p:sp>
      <p:sp>
        <p:nvSpPr>
          <p:cNvPr id="34" name="Text 29"/>
          <p:cNvSpPr/>
          <p:nvPr/>
        </p:nvSpPr>
        <p:spPr>
          <a:xfrm>
            <a:off x="6117336" y="3730752"/>
            <a:ext cx="2542032" cy="347472"/>
          </a:xfrm>
          <a:prstGeom prst="rect">
            <a:avLst/>
          </a:prstGeom>
          <a:noFill/>
          <a:ln/>
        </p:spPr>
        <p:txBody>
          <a:bodyPr wrap="square" lIns="0" tIns="0" rIns="0" bIns="0" rtlCol="0" anchor="ctr"/>
          <a:lstStyle/>
          <a:p>
            <a:pPr indent="0" marL="0">
              <a:buNone/>
            </a:pPr>
            <a:r>
              <a:rPr lang="en-US" sz="950" b="1" dirty="0">
                <a:solidFill>
                  <a:srgbClr val="0B72BD"/>
                </a:solidFill>
                <a:latin typeface="Trebuchet MS" pitchFamily="34" charset="0"/>
                <a:ea typeface="Trebuchet MS" pitchFamily="34" charset="-122"/>
                <a:cs typeface="Trebuchet MS" pitchFamily="34" charset="-120"/>
              </a:rPr>
              <a:t>Lui et al. (MLSec survey, 2023)</a:t>
            </a:r>
            <a:endParaRPr lang="en-US" sz="950" dirty="0"/>
          </a:p>
        </p:txBody>
      </p:sp>
      <p:sp>
        <p:nvSpPr>
          <p:cNvPr id="35" name="Shape 30"/>
          <p:cNvSpPr/>
          <p:nvPr/>
        </p:nvSpPr>
        <p:spPr>
          <a:xfrm>
            <a:off x="6117336" y="4114800"/>
            <a:ext cx="2542032" cy="36576"/>
          </a:xfrm>
          <a:prstGeom prst="rect">
            <a:avLst/>
          </a:prstGeom>
          <a:solidFill>
            <a:srgbClr val="C8DFF0"/>
          </a:solidFill>
          <a:ln/>
        </p:spPr>
      </p:sp>
      <p:sp>
        <p:nvSpPr>
          <p:cNvPr id="36" name="Text 31"/>
          <p:cNvSpPr/>
          <p:nvPr/>
        </p:nvSpPr>
        <p:spPr>
          <a:xfrm>
            <a:off x="6117336" y="4187952"/>
            <a:ext cx="2542032" cy="658368"/>
          </a:xfrm>
          <a:prstGeom prst="rect">
            <a:avLst/>
          </a:prstGeom>
          <a:noFill/>
          <a:ln/>
        </p:spPr>
        <p:txBody>
          <a:bodyPr wrap="square" lIns="0" tIns="0" rIns="0" bIns="0" rtlCol="0" anchor="ctr"/>
          <a:lstStyle/>
          <a:p>
            <a:pPr indent="0" marL="0">
              <a:buNone/>
            </a:pPr>
            <a:r>
              <a:rPr lang="en-US" sz="950" i="1" dirty="0">
                <a:solidFill>
                  <a:srgbClr val="DC2626"/>
                </a:solidFill>
                <a:latin typeface="Calibri" pitchFamily="34" charset="0"/>
                <a:ea typeface="Calibri" pitchFamily="34" charset="-122"/>
                <a:cs typeface="Calibri" pitchFamily="34" charset="-120"/>
              </a:rPr>
              <a:t>Lab models only — no Android apps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sp>
      <p:sp>
        <p:nvSpPr>
          <p:cNvPr id="3" name="Text 1"/>
          <p:cNvSpPr/>
          <p:nvPr/>
        </p:nvSpPr>
        <p:spPr>
          <a:xfrm>
            <a:off x="365760" y="73152"/>
            <a:ext cx="8412480" cy="475488"/>
          </a:xfrm>
          <a:prstGeom prst="rect">
            <a:avLst/>
          </a:prstGeom>
          <a:noFill/>
          <a:ln/>
        </p:spPr>
        <p:txBody>
          <a:bodyPr wrap="square" lIns="0" tIns="0" rIns="0" bIns="0" rtlCol="0" anchor="ctr"/>
          <a:lstStyle/>
          <a:p>
            <a:pPr indent="0" marL="0">
              <a:buNone/>
            </a:pPr>
            <a:r>
              <a:rPr lang="en-US" sz="2000" b="1" dirty="0">
                <a:solidFill>
                  <a:srgbClr val="00C8E0"/>
                </a:solidFill>
                <a:latin typeface="Trebuchet MS" pitchFamily="34" charset="0"/>
                <a:ea typeface="Trebuchet MS" pitchFamily="34" charset="-122"/>
                <a:cs typeface="Trebuchet MS" pitchFamily="34" charset="-120"/>
              </a:rPr>
              <a:t>Research Questions</a:t>
            </a:r>
            <a:endParaRPr lang="en-US" sz="2000" dirty="0"/>
          </a:p>
        </p:txBody>
      </p:sp>
      <p:sp>
        <p:nvSpPr>
          <p:cNvPr id="4" name="Text 2"/>
          <p:cNvSpPr/>
          <p:nvPr/>
        </p:nvSpPr>
        <p:spPr>
          <a:xfrm>
            <a:off x="365760" y="566928"/>
            <a:ext cx="8412480" cy="292608"/>
          </a:xfrm>
          <a:prstGeom prst="rect">
            <a:avLst/>
          </a:prstGeom>
          <a:noFill/>
          <a:ln/>
        </p:spPr>
        <p:txBody>
          <a:bodyPr wrap="square" lIns="0" tIns="0" rIns="0" bIns="0" rtlCol="0" anchor="ctr"/>
          <a:lstStyle/>
          <a:p>
            <a:pPr indent="0" marL="0">
              <a:buNone/>
            </a:pPr>
            <a:r>
              <a:rPr lang="en-US" sz="1050" i="1" dirty="0">
                <a:solidFill>
                  <a:srgbClr val="0099B0"/>
                </a:solidFill>
                <a:latin typeface="Calibri" pitchFamily="34" charset="0"/>
                <a:ea typeface="Calibri" pitchFamily="34" charset="-122"/>
                <a:cs typeface="Calibri" pitchFamily="34" charset="-120"/>
              </a:rPr>
              <a:t>Four prioritized questions driving the analysis — Primary targets define the minimum viable deliverable</a:t>
            </a:r>
            <a:endParaRPr lang="en-US" sz="1050" dirty="0"/>
          </a:p>
        </p:txBody>
      </p:sp>
      <p:sp>
        <p:nvSpPr>
          <p:cNvPr id="5" name="Shape 3"/>
          <p:cNvSpPr/>
          <p:nvPr/>
        </p:nvSpPr>
        <p:spPr>
          <a:xfrm>
            <a:off x="320040" y="1005840"/>
            <a:ext cx="8503920" cy="393192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1005840"/>
            <a:ext cx="8503920" cy="301752"/>
          </a:xfrm>
          <a:prstGeom prst="rect">
            <a:avLst/>
          </a:prstGeom>
          <a:solidFill>
            <a:srgbClr val="00C8E0"/>
          </a:solidFill>
          <a:ln/>
        </p:spPr>
      </p:sp>
      <p:sp>
        <p:nvSpPr>
          <p:cNvPr id="7" name="Text 5"/>
          <p:cNvSpPr/>
          <p:nvPr/>
        </p:nvSpPr>
        <p:spPr>
          <a:xfrm>
            <a:off x="502920" y="1033272"/>
            <a:ext cx="8138160" cy="256032"/>
          </a:xfrm>
          <a:prstGeom prst="rect">
            <a:avLst/>
          </a:prstGeom>
          <a:noFill/>
          <a:ln/>
        </p:spPr>
        <p:txBody>
          <a:bodyPr wrap="square" lIns="0" tIns="0" rIns="0" bIns="0" rtlCol="0" anchor="ctr"/>
          <a:lstStyle/>
          <a:p>
            <a:pPr indent="0" marL="0">
              <a:buNone/>
            </a:pPr>
            <a:r>
              <a:rPr lang="en-US" sz="1200" b="1" dirty="0">
                <a:solidFill>
                  <a:srgbClr val="0A1628"/>
                </a:solidFill>
                <a:latin typeface="Trebuchet MS" pitchFamily="34" charset="0"/>
                <a:ea typeface="Trebuchet MS" pitchFamily="34" charset="-122"/>
                <a:cs typeface="Trebuchet MS" pitchFamily="34" charset="-120"/>
              </a:rPr>
              <a:t>Prioritized Research Questions</a:t>
            </a:r>
            <a:endParaRPr lang="en-US" sz="1200" dirty="0"/>
          </a:p>
        </p:txBody>
      </p:sp>
      <p:sp>
        <p:nvSpPr>
          <p:cNvPr id="8" name="Shape 6"/>
          <p:cNvSpPr/>
          <p:nvPr/>
        </p:nvSpPr>
        <p:spPr>
          <a:xfrm>
            <a:off x="502920" y="1389888"/>
            <a:ext cx="1005840" cy="219456"/>
          </a:xfrm>
          <a:prstGeom prst="rect">
            <a:avLst/>
          </a:prstGeom>
          <a:solidFill>
            <a:srgbClr val="DC2626"/>
          </a:solidFill>
          <a:ln/>
        </p:spPr>
      </p:sp>
      <p:sp>
        <p:nvSpPr>
          <p:cNvPr id="9" name="Text 7"/>
          <p:cNvSpPr/>
          <p:nvPr/>
        </p:nvSpPr>
        <p:spPr>
          <a:xfrm>
            <a:off x="502920" y="1389888"/>
            <a:ext cx="10058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PRIMARY</a:t>
            </a:r>
            <a:endParaRPr lang="en-US" sz="900" dirty="0"/>
          </a:p>
        </p:txBody>
      </p:sp>
      <p:sp>
        <p:nvSpPr>
          <p:cNvPr id="10" name="Shape 8"/>
          <p:cNvSpPr/>
          <p:nvPr/>
        </p:nvSpPr>
        <p:spPr>
          <a:xfrm>
            <a:off x="502920" y="1691640"/>
            <a:ext cx="384048" cy="384048"/>
          </a:xfrm>
          <a:prstGeom prst="ellipse">
            <a:avLst/>
          </a:prstGeom>
          <a:solidFill>
            <a:srgbClr val="DC2626"/>
          </a:solidFill>
          <a:ln/>
        </p:spPr>
      </p:sp>
      <p:pic>
        <p:nvPicPr>
          <p:cNvPr id="11" name="Image 0" descr="preencoded.png"/>
          <p:cNvPicPr>
            <a:picLocks noChangeAspect="1"/>
          </p:cNvPicPr>
          <p:nvPr/>
        </p:nvPicPr>
        <p:blipFill>
          <a:blip r:embed="rId1"/>
          <a:stretch>
            <a:fillRect/>
          </a:stretch>
        </p:blipFill>
        <p:spPr>
          <a:xfrm>
            <a:off x="557784" y="1719072"/>
            <a:ext cx="274320" cy="274320"/>
          </a:xfrm>
          <a:prstGeom prst="rect">
            <a:avLst/>
          </a:prstGeom>
        </p:spPr>
      </p:pic>
      <p:sp>
        <p:nvSpPr>
          <p:cNvPr id="12" name="Text 9"/>
          <p:cNvSpPr/>
          <p:nvPr/>
        </p:nvSpPr>
        <p:spPr>
          <a:xfrm>
            <a:off x="1014984" y="1682496"/>
            <a:ext cx="3566160" cy="274320"/>
          </a:xfrm>
          <a:prstGeom prst="rect">
            <a:avLst/>
          </a:prstGeom>
          <a:noFill/>
          <a:ln/>
        </p:spPr>
        <p:txBody>
          <a:bodyPr wrap="square" lIns="0" tIns="0" rIns="0" bIns="0" rtlCol="0" anchor="ctr"/>
          <a:lstStyle/>
          <a:p>
            <a:pPr indent="0" marL="0">
              <a:buNone/>
            </a:pPr>
            <a:r>
              <a:rPr lang="en-US" sz="1150" b="1" dirty="0">
                <a:solidFill>
                  <a:srgbClr val="1E2D40"/>
                </a:solidFill>
                <a:latin typeface="Trebuchet MS" pitchFamily="34" charset="0"/>
                <a:ea typeface="Trebuchet MS" pitchFamily="34" charset="-122"/>
                <a:cs typeface="Trebuchet MS" pitchFamily="34" charset="-120"/>
              </a:rPr>
              <a:t>Do poisoning surfaces exist?</a:t>
            </a:r>
            <a:endParaRPr lang="en-US" sz="1150" dirty="0"/>
          </a:p>
        </p:txBody>
      </p:sp>
      <p:sp>
        <p:nvSpPr>
          <p:cNvPr id="13" name="Text 10"/>
          <p:cNvSpPr/>
          <p:nvPr/>
        </p:nvSpPr>
        <p:spPr>
          <a:xfrm>
            <a:off x="1014984" y="1975104"/>
            <a:ext cx="3566160" cy="804672"/>
          </a:xfrm>
          <a:prstGeom prst="rect">
            <a:avLst/>
          </a:prstGeom>
          <a:noFill/>
          <a:ln/>
        </p:spPr>
        <p:txBody>
          <a:bodyPr wrap="square" lIns="0" tIns="0" rIns="0" bIns="0" rtlCol="0" anchor="ctr"/>
          <a:lstStyle/>
          <a:p>
            <a:pPr indent="0" marL="0">
              <a:buNone/>
            </a:pPr>
            <a:r>
              <a:rPr lang="en-US" sz="1050" dirty="0">
                <a:solidFill>
                  <a:srgbClr val="3A5068"/>
                </a:solidFill>
                <a:latin typeface="Calibri" pitchFamily="34" charset="0"/>
                <a:ea typeface="Calibri" pitchFamily="34" charset="-122"/>
                <a:cs typeface="Calibri" pitchFamily="34" charset="-120"/>
              </a:rPr>
              <a:t>Does user-submitted data flow into ML model retraining without sanitization or anomaly detection? This is the direct attack surface for data poisoning.</a:t>
            </a:r>
            <a:endParaRPr lang="en-US" sz="1050" dirty="0"/>
          </a:p>
        </p:txBody>
      </p:sp>
      <p:sp>
        <p:nvSpPr>
          <p:cNvPr id="14" name="Shape 11"/>
          <p:cNvSpPr/>
          <p:nvPr/>
        </p:nvSpPr>
        <p:spPr>
          <a:xfrm>
            <a:off x="4709160" y="1691640"/>
            <a:ext cx="384048" cy="384048"/>
          </a:xfrm>
          <a:prstGeom prst="ellipse">
            <a:avLst/>
          </a:prstGeom>
          <a:solidFill>
            <a:srgbClr val="D97706"/>
          </a:solidFill>
          <a:ln/>
        </p:spPr>
      </p:sp>
      <p:pic>
        <p:nvPicPr>
          <p:cNvPr id="15" name="Image 1" descr="preencoded.png"/>
          <p:cNvPicPr>
            <a:picLocks noChangeAspect="1"/>
          </p:cNvPicPr>
          <p:nvPr/>
        </p:nvPicPr>
        <p:blipFill>
          <a:blip r:embed="rId2"/>
          <a:stretch>
            <a:fillRect/>
          </a:stretch>
        </p:blipFill>
        <p:spPr>
          <a:xfrm>
            <a:off x="4764024" y="1719072"/>
            <a:ext cx="274320" cy="274320"/>
          </a:xfrm>
          <a:prstGeom prst="rect">
            <a:avLst/>
          </a:prstGeom>
        </p:spPr>
      </p:pic>
      <p:sp>
        <p:nvSpPr>
          <p:cNvPr id="16" name="Text 12"/>
          <p:cNvSpPr/>
          <p:nvPr/>
        </p:nvSpPr>
        <p:spPr>
          <a:xfrm>
            <a:off x="5221224" y="1682496"/>
            <a:ext cx="3566160" cy="274320"/>
          </a:xfrm>
          <a:prstGeom prst="rect">
            <a:avLst/>
          </a:prstGeom>
          <a:noFill/>
          <a:ln/>
        </p:spPr>
        <p:txBody>
          <a:bodyPr wrap="square" lIns="0" tIns="0" rIns="0" bIns="0" rtlCol="0" anchor="ctr"/>
          <a:lstStyle/>
          <a:p>
            <a:pPr indent="0" marL="0">
              <a:buNone/>
            </a:pPr>
            <a:r>
              <a:rPr lang="en-US" sz="1150" b="1" dirty="0">
                <a:solidFill>
                  <a:srgbClr val="1E2D40"/>
                </a:solidFill>
                <a:latin typeface="Trebuchet MS" pitchFamily="34" charset="0"/>
                <a:ea typeface="Trebuchet MS" pitchFamily="34" charset="-122"/>
                <a:cs typeface="Trebuchet MS" pitchFamily="34" charset="-120"/>
              </a:rPr>
              <a:t>Are model files exposed?</a:t>
            </a:r>
            <a:endParaRPr lang="en-US" sz="1150" dirty="0"/>
          </a:p>
        </p:txBody>
      </p:sp>
      <p:sp>
        <p:nvSpPr>
          <p:cNvPr id="17" name="Text 13"/>
          <p:cNvSpPr/>
          <p:nvPr/>
        </p:nvSpPr>
        <p:spPr>
          <a:xfrm>
            <a:off x="5221224" y="1975104"/>
            <a:ext cx="3566160" cy="804672"/>
          </a:xfrm>
          <a:prstGeom prst="rect">
            <a:avLst/>
          </a:prstGeom>
          <a:noFill/>
          <a:ln/>
        </p:spPr>
        <p:txBody>
          <a:bodyPr wrap="square" lIns="0" tIns="0" rIns="0" bIns="0" rtlCol="0" anchor="ctr"/>
          <a:lstStyle/>
          <a:p>
            <a:pPr indent="0" marL="0">
              <a:buNone/>
            </a:pPr>
            <a:r>
              <a:rPr lang="en-US" sz="1050" dirty="0">
                <a:solidFill>
                  <a:srgbClr val="3A5068"/>
                </a:solidFill>
                <a:latin typeface="Calibri" pitchFamily="34" charset="0"/>
                <a:ea typeface="Calibri" pitchFamily="34" charset="-122"/>
                <a:cs typeface="Calibri" pitchFamily="34" charset="-120"/>
              </a:rPr>
              <a:t>Are .tflite, .onnx, or .pkl files stored unencrypted inside the APK? No integrity checks on load means the model can be swapped or reverse-engineered.</a:t>
            </a:r>
            <a:endParaRPr lang="en-US" sz="1050" dirty="0"/>
          </a:p>
        </p:txBody>
      </p:sp>
      <p:sp>
        <p:nvSpPr>
          <p:cNvPr id="18" name="Shape 14"/>
          <p:cNvSpPr/>
          <p:nvPr/>
        </p:nvSpPr>
        <p:spPr>
          <a:xfrm>
            <a:off x="502920" y="2871216"/>
            <a:ext cx="8229600" cy="36576"/>
          </a:xfrm>
          <a:prstGeom prst="rect">
            <a:avLst/>
          </a:prstGeom>
          <a:solidFill>
            <a:srgbClr val="D1E8F8"/>
          </a:solidFill>
          <a:ln/>
        </p:spPr>
      </p:sp>
      <p:sp>
        <p:nvSpPr>
          <p:cNvPr id="19" name="Shape 15"/>
          <p:cNvSpPr/>
          <p:nvPr/>
        </p:nvSpPr>
        <p:spPr>
          <a:xfrm>
            <a:off x="502920" y="2980944"/>
            <a:ext cx="1005840" cy="219456"/>
          </a:xfrm>
          <a:prstGeom prst="rect">
            <a:avLst/>
          </a:prstGeom>
          <a:solidFill>
            <a:srgbClr val="64748B"/>
          </a:solidFill>
          <a:ln/>
        </p:spPr>
      </p:sp>
      <p:sp>
        <p:nvSpPr>
          <p:cNvPr id="20" name="Text 16"/>
          <p:cNvSpPr/>
          <p:nvPr/>
        </p:nvSpPr>
        <p:spPr>
          <a:xfrm>
            <a:off x="502920" y="2980944"/>
            <a:ext cx="10058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STRETCH</a:t>
            </a:r>
            <a:endParaRPr lang="en-US" sz="900" dirty="0"/>
          </a:p>
        </p:txBody>
      </p:sp>
      <p:sp>
        <p:nvSpPr>
          <p:cNvPr id="21" name="Shape 17"/>
          <p:cNvSpPr/>
          <p:nvPr/>
        </p:nvSpPr>
        <p:spPr>
          <a:xfrm>
            <a:off x="502920" y="3273552"/>
            <a:ext cx="384048" cy="384048"/>
          </a:xfrm>
          <a:prstGeom prst="ellipse">
            <a:avLst/>
          </a:prstGeom>
          <a:solidFill>
            <a:srgbClr val="4FA8E8"/>
          </a:solidFill>
          <a:ln/>
        </p:spPr>
      </p:sp>
      <p:pic>
        <p:nvPicPr>
          <p:cNvPr id="22" name="Image 2" descr="preencoded.png"/>
          <p:cNvPicPr>
            <a:picLocks noChangeAspect="1"/>
          </p:cNvPicPr>
          <p:nvPr/>
        </p:nvPicPr>
        <p:blipFill>
          <a:blip r:embed="rId3"/>
          <a:stretch>
            <a:fillRect/>
          </a:stretch>
        </p:blipFill>
        <p:spPr>
          <a:xfrm>
            <a:off x="557784" y="3300984"/>
            <a:ext cx="274320" cy="274320"/>
          </a:xfrm>
          <a:prstGeom prst="rect">
            <a:avLst/>
          </a:prstGeom>
        </p:spPr>
      </p:pic>
      <p:sp>
        <p:nvSpPr>
          <p:cNvPr id="23" name="Text 18"/>
          <p:cNvSpPr/>
          <p:nvPr/>
        </p:nvSpPr>
        <p:spPr>
          <a:xfrm>
            <a:off x="1014984" y="3264408"/>
            <a:ext cx="3566160" cy="274320"/>
          </a:xfrm>
          <a:prstGeom prst="rect">
            <a:avLst/>
          </a:prstGeom>
          <a:noFill/>
          <a:ln/>
        </p:spPr>
        <p:txBody>
          <a:bodyPr wrap="square" lIns="0" tIns="0" rIns="0" bIns="0" rtlCol="0" anchor="ctr"/>
          <a:lstStyle/>
          <a:p>
            <a:pPr indent="0" marL="0">
              <a:buNone/>
            </a:pPr>
            <a:r>
              <a:rPr lang="en-US" sz="1150" b="1" dirty="0">
                <a:solidFill>
                  <a:srgbClr val="64748B"/>
                </a:solidFill>
                <a:latin typeface="Trebuchet MS" pitchFamily="34" charset="0"/>
                <a:ea typeface="Trebuchet MS" pitchFamily="34" charset="-122"/>
                <a:cs typeface="Trebuchet MS" pitchFamily="34" charset="-120"/>
              </a:rPr>
              <a:t>Is training data handled securely?</a:t>
            </a:r>
            <a:endParaRPr lang="en-US" sz="1150" dirty="0"/>
          </a:p>
        </p:txBody>
      </p:sp>
      <p:sp>
        <p:nvSpPr>
          <p:cNvPr id="24" name="Text 19"/>
          <p:cNvSpPr/>
          <p:nvPr/>
        </p:nvSpPr>
        <p:spPr>
          <a:xfrm>
            <a:off x="1014984" y="3557016"/>
            <a:ext cx="3566160" cy="7315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Is PII stored in world-readable directories? Is input sanitized before being fed into the inference pipeline?</a:t>
            </a:r>
            <a:endParaRPr lang="en-US" sz="1050" dirty="0"/>
          </a:p>
        </p:txBody>
      </p:sp>
      <p:sp>
        <p:nvSpPr>
          <p:cNvPr id="25" name="Shape 20"/>
          <p:cNvSpPr/>
          <p:nvPr/>
        </p:nvSpPr>
        <p:spPr>
          <a:xfrm>
            <a:off x="4709160" y="3273552"/>
            <a:ext cx="384048" cy="384048"/>
          </a:xfrm>
          <a:prstGeom prst="ellipse">
            <a:avLst/>
          </a:prstGeom>
          <a:solidFill>
            <a:srgbClr val="4FA8E8"/>
          </a:solidFill>
          <a:ln/>
        </p:spPr>
      </p:sp>
      <p:pic>
        <p:nvPicPr>
          <p:cNvPr id="26" name="Image 3" descr="preencoded.png"/>
          <p:cNvPicPr>
            <a:picLocks noChangeAspect="1"/>
          </p:cNvPicPr>
          <p:nvPr/>
        </p:nvPicPr>
        <p:blipFill>
          <a:blip r:embed="rId4"/>
          <a:stretch>
            <a:fillRect/>
          </a:stretch>
        </p:blipFill>
        <p:spPr>
          <a:xfrm>
            <a:off x="4764024" y="3300984"/>
            <a:ext cx="274320" cy="274320"/>
          </a:xfrm>
          <a:prstGeom prst="rect">
            <a:avLst/>
          </a:prstGeom>
        </p:spPr>
      </p:pic>
      <p:sp>
        <p:nvSpPr>
          <p:cNvPr id="27" name="Text 21"/>
          <p:cNvSpPr/>
          <p:nvPr/>
        </p:nvSpPr>
        <p:spPr>
          <a:xfrm>
            <a:off x="5221224" y="3264408"/>
            <a:ext cx="3566160" cy="274320"/>
          </a:xfrm>
          <a:prstGeom prst="rect">
            <a:avLst/>
          </a:prstGeom>
          <a:noFill/>
          <a:ln/>
        </p:spPr>
        <p:txBody>
          <a:bodyPr wrap="square" lIns="0" tIns="0" rIns="0" bIns="0" rtlCol="0" anchor="ctr"/>
          <a:lstStyle/>
          <a:p>
            <a:pPr indent="0" marL="0">
              <a:buNone/>
            </a:pPr>
            <a:r>
              <a:rPr lang="en-US" sz="1150" b="1" dirty="0">
                <a:solidFill>
                  <a:srgbClr val="64748B"/>
                </a:solidFill>
                <a:latin typeface="Trebuchet MS" pitchFamily="34" charset="0"/>
                <a:ea typeface="Trebuchet MS" pitchFamily="34" charset="-122"/>
                <a:cs typeface="Trebuchet MS" pitchFamily="34" charset="-120"/>
              </a:rPr>
              <a:t>Are model update channels safe?</a:t>
            </a:r>
            <a:endParaRPr lang="en-US" sz="1150" dirty="0"/>
          </a:p>
        </p:txBody>
      </p:sp>
      <p:sp>
        <p:nvSpPr>
          <p:cNvPr id="28" name="Text 22"/>
          <p:cNvSpPr/>
          <p:nvPr/>
        </p:nvSpPr>
        <p:spPr>
          <a:xfrm>
            <a:off x="5221224" y="3557016"/>
            <a:ext cx="3566160" cy="7315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Do apps download model updates over plain HTTP with no signature verification? This opens a man-in-the-middle model-swap vector.</a:t>
            </a:r>
            <a:endParaRPr lang="en-US" sz="1050" dirty="0"/>
          </a:p>
        </p:txBody>
      </p:sp>
      <p:sp>
        <p:nvSpPr>
          <p:cNvPr id="29" name="Shape 23"/>
          <p:cNvSpPr/>
          <p:nvPr/>
        </p:nvSpPr>
        <p:spPr>
          <a:xfrm>
            <a:off x="320040" y="4754880"/>
            <a:ext cx="8503920" cy="256032"/>
          </a:xfrm>
          <a:prstGeom prst="rect">
            <a:avLst/>
          </a:prstGeom>
          <a:solidFill>
            <a:srgbClr val="0A1628"/>
          </a:solidFill>
          <a:ln/>
        </p:spPr>
      </p:sp>
      <p:sp>
        <p:nvSpPr>
          <p:cNvPr id="30" name="Text 24"/>
          <p:cNvSpPr/>
          <p:nvPr/>
        </p:nvSpPr>
        <p:spPr>
          <a:xfrm>
            <a:off x="502920" y="4773168"/>
            <a:ext cx="8229600" cy="219456"/>
          </a:xfrm>
          <a:prstGeom prst="rect">
            <a:avLst/>
          </a:prstGeom>
          <a:noFill/>
          <a:ln/>
        </p:spPr>
        <p:txBody>
          <a:bodyPr wrap="square" lIns="0" tIns="0" rIns="0" bIns="0" rtlCol="0" anchor="ctr"/>
          <a:lstStyle/>
          <a:p>
            <a:pPr indent="0" marL="0">
              <a:buNone/>
            </a:pPr>
            <a:r>
              <a:rPr lang="en-US" sz="950" b="1" dirty="0">
                <a:solidFill>
                  <a:srgbClr val="00C8E0"/>
                </a:solidFill>
                <a:latin typeface="Calibri" pitchFamily="34" charset="0"/>
                <a:ea typeface="Calibri" pitchFamily="34" charset="-122"/>
                <a:cs typeface="Calibri" pitchFamily="34" charset="-120"/>
              </a:rPr>
              <a:t xml:space="preserve">MVD: </a:t>
            </a:r>
            <a:pPr indent="0" marL="0">
              <a:buNone/>
            </a:pPr>
            <a:r>
              <a:rPr lang="en-US" sz="950" dirty="0">
                <a:solidFill>
                  <a:srgbClr val="A0C8E8"/>
                </a:solidFill>
                <a:latin typeface="Calibri" pitchFamily="34" charset="0"/>
                <a:ea typeface="Calibri" pitchFamily="34" charset="-122"/>
                <a:cs typeface="Calibri" pitchFamily="34" charset="-120"/>
              </a:rPr>
              <a:t xml:space="preserve">Primary RQs alone = complete deliverable  •  </a:t>
            </a:r>
            <a:pPr indent="0" marL="0">
              <a:buNone/>
            </a:pPr>
            <a:r>
              <a:rPr lang="en-US" sz="950" b="1" dirty="0">
                <a:solidFill>
                  <a:srgbClr val="00C8E0"/>
                </a:solidFill>
                <a:latin typeface="Calibri" pitchFamily="34" charset="0"/>
                <a:ea typeface="Calibri" pitchFamily="34" charset="-122"/>
                <a:cs typeface="Calibri" pitchFamily="34" charset="-120"/>
              </a:rPr>
              <a:t xml:space="preserve">Negative result: </a:t>
            </a:r>
            <a:pPr indent="0" marL="0">
              <a:buNone/>
            </a:pPr>
            <a:r>
              <a:rPr lang="en-US" sz="950" dirty="0">
                <a:solidFill>
                  <a:srgbClr val="A0C8E8"/>
                </a:solidFill>
                <a:latin typeface="Calibri" pitchFamily="34" charset="0"/>
                <a:ea typeface="Calibri" pitchFamily="34" charset="-122"/>
                <a:cs typeface="Calibri" pitchFamily="34" charset="-120"/>
              </a:rPr>
              <a:t>'No vulnerabilities found' is a valid security posture finding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sp>
      <p:sp>
        <p:nvSpPr>
          <p:cNvPr id="3" name="Text 1"/>
          <p:cNvSpPr/>
          <p:nvPr/>
        </p:nvSpPr>
        <p:spPr>
          <a:xfrm>
            <a:off x="365760" y="73152"/>
            <a:ext cx="8412480" cy="475488"/>
          </a:xfrm>
          <a:prstGeom prst="rect">
            <a:avLst/>
          </a:prstGeom>
          <a:noFill/>
          <a:ln/>
        </p:spPr>
        <p:txBody>
          <a:bodyPr wrap="square" lIns="0" tIns="0" rIns="0" bIns="0" rtlCol="0" anchor="ctr"/>
          <a:lstStyle/>
          <a:p>
            <a:pPr indent="0" marL="0">
              <a:buNone/>
            </a:pPr>
            <a:r>
              <a:rPr lang="en-US" sz="2000" b="1" dirty="0">
                <a:solidFill>
                  <a:srgbClr val="00C8E0"/>
                </a:solidFill>
                <a:latin typeface="Trebuchet MS" pitchFamily="34" charset="0"/>
                <a:ea typeface="Trebuchet MS" pitchFamily="34" charset="-122"/>
                <a:cs typeface="Trebuchet MS" pitchFamily="34" charset="-120"/>
              </a:rPr>
              <a:t>Corpus Strategy &amp; Ethical Framework</a:t>
            </a:r>
            <a:endParaRPr lang="en-US" sz="2000" dirty="0"/>
          </a:p>
        </p:txBody>
      </p:sp>
      <p:sp>
        <p:nvSpPr>
          <p:cNvPr id="4" name="Text 2"/>
          <p:cNvSpPr/>
          <p:nvPr/>
        </p:nvSpPr>
        <p:spPr>
          <a:xfrm>
            <a:off x="365760" y="566928"/>
            <a:ext cx="8412480" cy="292608"/>
          </a:xfrm>
          <a:prstGeom prst="rect">
            <a:avLst/>
          </a:prstGeom>
          <a:noFill/>
          <a:ln/>
        </p:spPr>
        <p:txBody>
          <a:bodyPr wrap="square" lIns="0" tIns="0" rIns="0" bIns="0" rtlCol="0" anchor="ctr"/>
          <a:lstStyle/>
          <a:p>
            <a:pPr indent="0" marL="0">
              <a:buNone/>
            </a:pPr>
            <a:r>
              <a:rPr lang="en-US" sz="1050" i="1" dirty="0">
                <a:solidFill>
                  <a:srgbClr val="0099B0"/>
                </a:solidFill>
                <a:latin typeface="Calibri" pitchFamily="34" charset="0"/>
                <a:ea typeface="Calibri" pitchFamily="34" charset="-122"/>
                <a:cs typeface="Calibri" pitchFamily="34" charset="-120"/>
              </a:rPr>
              <a:t>Who we study, how we select them, and the boundaries we commit to</a:t>
            </a:r>
            <a:endParaRPr lang="en-US" sz="1050" dirty="0"/>
          </a:p>
        </p:txBody>
      </p:sp>
      <p:sp>
        <p:nvSpPr>
          <p:cNvPr id="5" name="Shape 3"/>
          <p:cNvSpPr/>
          <p:nvPr/>
        </p:nvSpPr>
        <p:spPr>
          <a:xfrm>
            <a:off x="320040" y="1005840"/>
            <a:ext cx="4114800" cy="393192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1005840"/>
            <a:ext cx="4114800" cy="301752"/>
          </a:xfrm>
          <a:prstGeom prst="rect">
            <a:avLst/>
          </a:prstGeom>
          <a:solidFill>
            <a:srgbClr val="0B72BD"/>
          </a:solidFill>
          <a:ln/>
        </p:spPr>
      </p:sp>
      <p:sp>
        <p:nvSpPr>
          <p:cNvPr id="7" name="Text 5"/>
          <p:cNvSpPr/>
          <p:nvPr/>
        </p:nvSpPr>
        <p:spPr>
          <a:xfrm>
            <a:off x="457200" y="1033272"/>
            <a:ext cx="3840480" cy="256032"/>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App Corpus — Targeted Selection</a:t>
            </a:r>
            <a:endParaRPr lang="en-US" sz="1100" dirty="0"/>
          </a:p>
        </p:txBody>
      </p:sp>
      <p:sp>
        <p:nvSpPr>
          <p:cNvPr id="8" name="Text 6"/>
          <p:cNvSpPr/>
          <p:nvPr/>
        </p:nvSpPr>
        <p:spPr>
          <a:xfrm>
            <a:off x="457200" y="1371600"/>
            <a:ext cx="3840480" cy="274320"/>
          </a:xfrm>
          <a:prstGeom prst="rect">
            <a:avLst/>
          </a:prstGeom>
          <a:noFill/>
          <a:ln/>
        </p:spPr>
        <p:txBody>
          <a:bodyPr wrap="square" lIns="0" tIns="0" rIns="0" bIns="0" rtlCol="0" anchor="ctr"/>
          <a:lstStyle/>
          <a:p>
            <a:pPr indent="0" marL="0">
              <a:buNone/>
            </a:pPr>
            <a:r>
              <a:rPr lang="en-US" sz="1000" dirty="0">
                <a:solidFill>
                  <a:srgbClr val="3A5068"/>
                </a:solidFill>
                <a:latin typeface="Calibri" pitchFamily="34" charset="0"/>
                <a:ea typeface="Calibri" pitchFamily="34" charset="-122"/>
                <a:cs typeface="Calibri" pitchFamily="34" charset="-120"/>
              </a:rPr>
              <a:t>30 apps, 1M+ downloads, 6 ML-heavy categories:</a:t>
            </a:r>
            <a:endParaRPr lang="en-US" sz="1000" dirty="0"/>
          </a:p>
        </p:txBody>
      </p:sp>
      <p:sp>
        <p:nvSpPr>
          <p:cNvPr id="9" name="Shape 7"/>
          <p:cNvSpPr/>
          <p:nvPr/>
        </p:nvSpPr>
        <p:spPr>
          <a:xfrm>
            <a:off x="438912" y="1719072"/>
            <a:ext cx="292608" cy="292608"/>
          </a:xfrm>
          <a:prstGeom prst="ellipse">
            <a:avLst/>
          </a:prstGeom>
          <a:solidFill>
            <a:srgbClr val="0B72BD"/>
          </a:solidFill>
          <a:ln/>
        </p:spPr>
      </p:sp>
      <p:pic>
        <p:nvPicPr>
          <p:cNvPr id="10" name="Image 0" descr="preencoded.png"/>
          <p:cNvPicPr>
            <a:picLocks noChangeAspect="1"/>
          </p:cNvPicPr>
          <p:nvPr/>
        </p:nvPicPr>
        <p:blipFill>
          <a:blip r:embed="rId1"/>
          <a:stretch>
            <a:fillRect/>
          </a:stretch>
        </p:blipFill>
        <p:spPr>
          <a:xfrm>
            <a:off x="475488" y="1746504"/>
            <a:ext cx="219456" cy="219456"/>
          </a:xfrm>
          <a:prstGeom prst="rect">
            <a:avLst/>
          </a:prstGeom>
        </p:spPr>
      </p:pic>
      <p:sp>
        <p:nvSpPr>
          <p:cNvPr id="11" name="Text 8"/>
          <p:cNvSpPr/>
          <p:nvPr/>
        </p:nvSpPr>
        <p:spPr>
          <a:xfrm>
            <a:off x="841248" y="1719072"/>
            <a:ext cx="3456432" cy="219456"/>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Keyboard / IME apps</a:t>
            </a:r>
            <a:endParaRPr lang="en-US" sz="1000" dirty="0"/>
          </a:p>
        </p:txBody>
      </p:sp>
      <p:sp>
        <p:nvSpPr>
          <p:cNvPr id="12" name="Text 9"/>
          <p:cNvSpPr/>
          <p:nvPr/>
        </p:nvSpPr>
        <p:spPr>
          <a:xfrm>
            <a:off x="841248" y="1947672"/>
            <a:ext cx="3456432" cy="274320"/>
          </a:xfrm>
          <a:prstGeom prst="rect">
            <a:avLst/>
          </a:prstGeom>
          <a:noFill/>
          <a:ln/>
        </p:spPr>
        <p:txBody>
          <a:bodyPr wrap="square" lIns="0" tIns="0" rIns="0" bIns="0" rtlCol="0" anchor="ctr"/>
          <a:lstStyle/>
          <a:p>
            <a:pPr indent="0" marL="0">
              <a:buNone/>
            </a:pPr>
            <a:r>
              <a:rPr lang="en-US" sz="900" i="1" dirty="0">
                <a:solidFill>
                  <a:srgbClr val="3A5068"/>
                </a:solidFill>
                <a:latin typeface="Calibri" pitchFamily="34" charset="0"/>
                <a:ea typeface="Calibri" pitchFamily="34" charset="-122"/>
                <a:cs typeface="Calibri" pitchFamily="34" charset="-120"/>
              </a:rPr>
              <a:t>Continuous user-data collection → retraining</a:t>
            </a:r>
            <a:endParaRPr lang="en-US" sz="900" dirty="0"/>
          </a:p>
        </p:txBody>
      </p:sp>
      <p:sp>
        <p:nvSpPr>
          <p:cNvPr id="13" name="Shape 10"/>
          <p:cNvSpPr/>
          <p:nvPr/>
        </p:nvSpPr>
        <p:spPr>
          <a:xfrm>
            <a:off x="438912" y="2340864"/>
            <a:ext cx="292608" cy="292608"/>
          </a:xfrm>
          <a:prstGeom prst="ellipse">
            <a:avLst/>
          </a:prstGeom>
          <a:solidFill>
            <a:srgbClr val="0B72BD"/>
          </a:solidFill>
          <a:ln/>
        </p:spPr>
      </p:sp>
      <p:pic>
        <p:nvPicPr>
          <p:cNvPr id="14" name="Image 1" descr="preencoded.png"/>
          <p:cNvPicPr>
            <a:picLocks noChangeAspect="1"/>
          </p:cNvPicPr>
          <p:nvPr/>
        </p:nvPicPr>
        <p:blipFill>
          <a:blip r:embed="rId2"/>
          <a:stretch>
            <a:fillRect/>
          </a:stretch>
        </p:blipFill>
        <p:spPr>
          <a:xfrm>
            <a:off x="475488" y="2368296"/>
            <a:ext cx="219456" cy="219456"/>
          </a:xfrm>
          <a:prstGeom prst="rect">
            <a:avLst/>
          </a:prstGeom>
        </p:spPr>
      </p:pic>
      <p:sp>
        <p:nvSpPr>
          <p:cNvPr id="15" name="Text 11"/>
          <p:cNvSpPr/>
          <p:nvPr/>
        </p:nvSpPr>
        <p:spPr>
          <a:xfrm>
            <a:off x="841248" y="2340864"/>
            <a:ext cx="3456432" cy="219456"/>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Camera / Vision apps</a:t>
            </a:r>
            <a:endParaRPr lang="en-US" sz="1000" dirty="0"/>
          </a:p>
        </p:txBody>
      </p:sp>
      <p:sp>
        <p:nvSpPr>
          <p:cNvPr id="16" name="Text 12"/>
          <p:cNvSpPr/>
          <p:nvPr/>
        </p:nvSpPr>
        <p:spPr>
          <a:xfrm>
            <a:off x="841248" y="2569464"/>
            <a:ext cx="3456432" cy="274320"/>
          </a:xfrm>
          <a:prstGeom prst="rect">
            <a:avLst/>
          </a:prstGeom>
          <a:noFill/>
          <a:ln/>
        </p:spPr>
        <p:txBody>
          <a:bodyPr wrap="square" lIns="0" tIns="0" rIns="0" bIns="0" rtlCol="0" anchor="ctr"/>
          <a:lstStyle/>
          <a:p>
            <a:pPr indent="0" marL="0">
              <a:buNone/>
            </a:pPr>
            <a:r>
              <a:rPr lang="en-US" sz="900" i="1" dirty="0">
                <a:solidFill>
                  <a:srgbClr val="3A5068"/>
                </a:solidFill>
                <a:latin typeface="Calibri" pitchFamily="34" charset="0"/>
                <a:ea typeface="Calibri" pitchFamily="34" charset="-122"/>
                <a:cs typeface="Calibri" pitchFamily="34" charset="-120"/>
              </a:rPr>
              <a:t>On-device model inference on PII</a:t>
            </a:r>
            <a:endParaRPr lang="en-US" sz="900" dirty="0"/>
          </a:p>
        </p:txBody>
      </p:sp>
      <p:sp>
        <p:nvSpPr>
          <p:cNvPr id="17" name="Shape 13"/>
          <p:cNvSpPr/>
          <p:nvPr/>
        </p:nvSpPr>
        <p:spPr>
          <a:xfrm>
            <a:off x="438912" y="2962656"/>
            <a:ext cx="292608" cy="292608"/>
          </a:xfrm>
          <a:prstGeom prst="ellipse">
            <a:avLst/>
          </a:prstGeom>
          <a:solidFill>
            <a:srgbClr val="0B72BD"/>
          </a:solidFill>
          <a:ln/>
        </p:spPr>
      </p:sp>
      <p:pic>
        <p:nvPicPr>
          <p:cNvPr id="18" name="Image 2" descr="preencoded.png"/>
          <p:cNvPicPr>
            <a:picLocks noChangeAspect="1"/>
          </p:cNvPicPr>
          <p:nvPr/>
        </p:nvPicPr>
        <p:blipFill>
          <a:blip r:embed="rId3"/>
          <a:stretch>
            <a:fillRect/>
          </a:stretch>
        </p:blipFill>
        <p:spPr>
          <a:xfrm>
            <a:off x="475488" y="2990088"/>
            <a:ext cx="219456" cy="219456"/>
          </a:xfrm>
          <a:prstGeom prst="rect">
            <a:avLst/>
          </a:prstGeom>
        </p:spPr>
      </p:pic>
      <p:sp>
        <p:nvSpPr>
          <p:cNvPr id="19" name="Text 14"/>
          <p:cNvSpPr/>
          <p:nvPr/>
        </p:nvSpPr>
        <p:spPr>
          <a:xfrm>
            <a:off x="841248" y="2962656"/>
            <a:ext cx="3456432" cy="219456"/>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Voice / Translation apps</a:t>
            </a:r>
            <a:endParaRPr lang="en-US" sz="1000" dirty="0"/>
          </a:p>
        </p:txBody>
      </p:sp>
      <p:sp>
        <p:nvSpPr>
          <p:cNvPr id="20" name="Text 15"/>
          <p:cNvSpPr/>
          <p:nvPr/>
        </p:nvSpPr>
        <p:spPr>
          <a:xfrm>
            <a:off x="841248" y="3191256"/>
            <a:ext cx="3456432" cy="274320"/>
          </a:xfrm>
          <a:prstGeom prst="rect">
            <a:avLst/>
          </a:prstGeom>
          <a:noFill/>
          <a:ln/>
        </p:spPr>
        <p:txBody>
          <a:bodyPr wrap="square" lIns="0" tIns="0" rIns="0" bIns="0" rtlCol="0" anchor="ctr"/>
          <a:lstStyle/>
          <a:p>
            <a:pPr indent="0" marL="0">
              <a:buNone/>
            </a:pPr>
            <a:r>
              <a:rPr lang="en-US" sz="900" i="1" dirty="0">
                <a:solidFill>
                  <a:srgbClr val="3A5068"/>
                </a:solidFill>
                <a:latin typeface="Calibri" pitchFamily="34" charset="0"/>
                <a:ea typeface="Calibri" pitchFamily="34" charset="-122"/>
                <a:cs typeface="Calibri" pitchFamily="34" charset="-120"/>
              </a:rPr>
              <a:t>Audio PII through ML pipeline</a:t>
            </a:r>
            <a:endParaRPr lang="en-US" sz="900" dirty="0"/>
          </a:p>
        </p:txBody>
      </p:sp>
      <p:sp>
        <p:nvSpPr>
          <p:cNvPr id="21" name="Shape 16"/>
          <p:cNvSpPr/>
          <p:nvPr/>
        </p:nvSpPr>
        <p:spPr>
          <a:xfrm>
            <a:off x="438912" y="3584448"/>
            <a:ext cx="292608" cy="292608"/>
          </a:xfrm>
          <a:prstGeom prst="ellipse">
            <a:avLst/>
          </a:prstGeom>
          <a:solidFill>
            <a:srgbClr val="0B72BD"/>
          </a:solidFill>
          <a:ln/>
        </p:spPr>
      </p:sp>
      <p:pic>
        <p:nvPicPr>
          <p:cNvPr id="22" name="Image 3" descr="preencoded.png"/>
          <p:cNvPicPr>
            <a:picLocks noChangeAspect="1"/>
          </p:cNvPicPr>
          <p:nvPr/>
        </p:nvPicPr>
        <p:blipFill>
          <a:blip r:embed="rId4"/>
          <a:stretch>
            <a:fillRect/>
          </a:stretch>
        </p:blipFill>
        <p:spPr>
          <a:xfrm>
            <a:off x="475488" y="3611880"/>
            <a:ext cx="219456" cy="219456"/>
          </a:xfrm>
          <a:prstGeom prst="rect">
            <a:avLst/>
          </a:prstGeom>
        </p:spPr>
      </p:pic>
      <p:sp>
        <p:nvSpPr>
          <p:cNvPr id="23" name="Text 17"/>
          <p:cNvSpPr/>
          <p:nvPr/>
        </p:nvSpPr>
        <p:spPr>
          <a:xfrm>
            <a:off x="841248" y="3584448"/>
            <a:ext cx="3456432" cy="219456"/>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Fitness / Health apps</a:t>
            </a:r>
            <a:endParaRPr lang="en-US" sz="1000" dirty="0"/>
          </a:p>
        </p:txBody>
      </p:sp>
      <p:sp>
        <p:nvSpPr>
          <p:cNvPr id="24" name="Text 18"/>
          <p:cNvSpPr/>
          <p:nvPr/>
        </p:nvSpPr>
        <p:spPr>
          <a:xfrm>
            <a:off x="841248" y="3813048"/>
            <a:ext cx="3456432" cy="274320"/>
          </a:xfrm>
          <a:prstGeom prst="rect">
            <a:avLst/>
          </a:prstGeom>
          <a:noFill/>
          <a:ln/>
        </p:spPr>
        <p:txBody>
          <a:bodyPr wrap="square" lIns="0" tIns="0" rIns="0" bIns="0" rtlCol="0" anchor="ctr"/>
          <a:lstStyle/>
          <a:p>
            <a:pPr indent="0" marL="0">
              <a:buNone/>
            </a:pPr>
            <a:r>
              <a:rPr lang="en-US" sz="900" i="1" dirty="0">
                <a:solidFill>
                  <a:srgbClr val="3A5068"/>
                </a:solidFill>
                <a:latin typeface="Calibri" pitchFamily="34" charset="0"/>
                <a:ea typeface="Calibri" pitchFamily="34" charset="-122"/>
                <a:cs typeface="Calibri" pitchFamily="34" charset="-120"/>
              </a:rPr>
              <a:t>Sensitive biometric training data</a:t>
            </a:r>
            <a:endParaRPr lang="en-US" sz="900" dirty="0"/>
          </a:p>
        </p:txBody>
      </p:sp>
      <p:sp>
        <p:nvSpPr>
          <p:cNvPr id="25" name="Shape 19"/>
          <p:cNvSpPr/>
          <p:nvPr/>
        </p:nvSpPr>
        <p:spPr>
          <a:xfrm>
            <a:off x="438912" y="4206240"/>
            <a:ext cx="292608" cy="292608"/>
          </a:xfrm>
          <a:prstGeom prst="ellipse">
            <a:avLst/>
          </a:prstGeom>
          <a:solidFill>
            <a:srgbClr val="0B72BD"/>
          </a:solidFill>
          <a:ln/>
        </p:spPr>
      </p:sp>
      <p:pic>
        <p:nvPicPr>
          <p:cNvPr id="26" name="Image 4" descr="preencoded.png"/>
          <p:cNvPicPr>
            <a:picLocks noChangeAspect="1"/>
          </p:cNvPicPr>
          <p:nvPr/>
        </p:nvPicPr>
        <p:blipFill>
          <a:blip r:embed="rId5"/>
          <a:stretch>
            <a:fillRect/>
          </a:stretch>
        </p:blipFill>
        <p:spPr>
          <a:xfrm>
            <a:off x="475488" y="4233672"/>
            <a:ext cx="219456" cy="219456"/>
          </a:xfrm>
          <a:prstGeom prst="rect">
            <a:avLst/>
          </a:prstGeom>
        </p:spPr>
      </p:pic>
      <p:sp>
        <p:nvSpPr>
          <p:cNvPr id="27" name="Text 20"/>
          <p:cNvSpPr/>
          <p:nvPr/>
        </p:nvSpPr>
        <p:spPr>
          <a:xfrm>
            <a:off x="841248" y="4206240"/>
            <a:ext cx="3456432" cy="219456"/>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Smart keyboard &amp; NLP</a:t>
            </a:r>
            <a:endParaRPr lang="en-US" sz="1000" dirty="0"/>
          </a:p>
        </p:txBody>
      </p:sp>
      <p:sp>
        <p:nvSpPr>
          <p:cNvPr id="28" name="Text 21"/>
          <p:cNvSpPr/>
          <p:nvPr/>
        </p:nvSpPr>
        <p:spPr>
          <a:xfrm>
            <a:off x="841248" y="4434840"/>
            <a:ext cx="3456432" cy="274320"/>
          </a:xfrm>
          <a:prstGeom prst="rect">
            <a:avLst/>
          </a:prstGeom>
          <a:noFill/>
          <a:ln/>
        </p:spPr>
        <p:txBody>
          <a:bodyPr wrap="square" lIns="0" tIns="0" rIns="0" bIns="0" rtlCol="0" anchor="ctr"/>
          <a:lstStyle/>
          <a:p>
            <a:pPr indent="0" marL="0">
              <a:buNone/>
            </a:pPr>
            <a:r>
              <a:rPr lang="en-US" sz="900" i="1" dirty="0">
                <a:solidFill>
                  <a:srgbClr val="3A5068"/>
                </a:solidFill>
                <a:latin typeface="Calibri" pitchFamily="34" charset="0"/>
                <a:ea typeface="Calibri" pitchFamily="34" charset="-122"/>
                <a:cs typeface="Calibri" pitchFamily="34" charset="-120"/>
              </a:rPr>
              <a:t>Federated learning attack surface</a:t>
            </a:r>
            <a:endParaRPr lang="en-US" sz="900" dirty="0"/>
          </a:p>
        </p:txBody>
      </p:sp>
      <p:sp>
        <p:nvSpPr>
          <p:cNvPr id="29" name="Shape 22"/>
          <p:cNvSpPr/>
          <p:nvPr/>
        </p:nvSpPr>
        <p:spPr>
          <a:xfrm>
            <a:off x="4572000" y="1005840"/>
            <a:ext cx="4251960" cy="393192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30" name="Shape 23"/>
          <p:cNvSpPr/>
          <p:nvPr/>
        </p:nvSpPr>
        <p:spPr>
          <a:xfrm>
            <a:off x="4572000" y="1005840"/>
            <a:ext cx="4251960" cy="301752"/>
          </a:xfrm>
          <a:prstGeom prst="rect">
            <a:avLst/>
          </a:prstGeom>
          <a:solidFill>
            <a:srgbClr val="7C3AED"/>
          </a:solidFill>
          <a:ln/>
        </p:spPr>
      </p:sp>
      <p:sp>
        <p:nvSpPr>
          <p:cNvPr id="31" name="Text 24"/>
          <p:cNvSpPr/>
          <p:nvPr/>
        </p:nvSpPr>
        <p:spPr>
          <a:xfrm>
            <a:off x="4709160" y="1033272"/>
            <a:ext cx="3977640" cy="256032"/>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Ethical &amp; Legal Boundaries</a:t>
            </a:r>
            <a:endParaRPr lang="en-US" sz="1100" dirty="0"/>
          </a:p>
        </p:txBody>
      </p:sp>
      <p:sp>
        <p:nvSpPr>
          <p:cNvPr id="32" name="Shape 25"/>
          <p:cNvSpPr/>
          <p:nvPr/>
        </p:nvSpPr>
        <p:spPr>
          <a:xfrm>
            <a:off x="4681728" y="1444752"/>
            <a:ext cx="329184" cy="329184"/>
          </a:xfrm>
          <a:prstGeom prst="ellipse">
            <a:avLst/>
          </a:prstGeom>
          <a:solidFill>
            <a:srgbClr val="7C3AED"/>
          </a:solidFill>
          <a:ln/>
        </p:spPr>
      </p:sp>
      <p:pic>
        <p:nvPicPr>
          <p:cNvPr id="33" name="Image 5" descr="preencoded.png"/>
          <p:cNvPicPr>
            <a:picLocks noChangeAspect="1"/>
          </p:cNvPicPr>
          <p:nvPr/>
        </p:nvPicPr>
        <p:blipFill>
          <a:blip r:embed="rId6"/>
          <a:stretch>
            <a:fillRect/>
          </a:stretch>
        </p:blipFill>
        <p:spPr>
          <a:xfrm>
            <a:off x="4718304" y="1472184"/>
            <a:ext cx="256032" cy="256032"/>
          </a:xfrm>
          <a:prstGeom prst="rect">
            <a:avLst/>
          </a:prstGeom>
        </p:spPr>
      </p:pic>
      <p:sp>
        <p:nvSpPr>
          <p:cNvPr id="34" name="Text 26"/>
          <p:cNvSpPr/>
          <p:nvPr/>
        </p:nvSpPr>
        <p:spPr>
          <a:xfrm>
            <a:off x="5120640" y="1417320"/>
            <a:ext cx="3566160" cy="237744"/>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CFAA Compliance</a:t>
            </a:r>
            <a:endParaRPr lang="en-US" sz="1000" dirty="0"/>
          </a:p>
        </p:txBody>
      </p:sp>
      <p:sp>
        <p:nvSpPr>
          <p:cNvPr id="35" name="Text 27"/>
          <p:cNvSpPr/>
          <p:nvPr/>
        </p:nvSpPr>
        <p:spPr>
          <a:xfrm>
            <a:off x="5120640" y="1673352"/>
            <a:ext cx="3566160" cy="566928"/>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Static analysis only on publicly distributed APKs — no unauthorized server access, no live user data interception</a:t>
            </a:r>
            <a:endParaRPr lang="en-US" sz="950" dirty="0"/>
          </a:p>
        </p:txBody>
      </p:sp>
      <p:sp>
        <p:nvSpPr>
          <p:cNvPr id="36" name="Shape 28"/>
          <p:cNvSpPr/>
          <p:nvPr/>
        </p:nvSpPr>
        <p:spPr>
          <a:xfrm>
            <a:off x="4681728" y="2322576"/>
            <a:ext cx="329184" cy="329184"/>
          </a:xfrm>
          <a:prstGeom prst="ellipse">
            <a:avLst/>
          </a:prstGeom>
          <a:solidFill>
            <a:srgbClr val="0B72BD"/>
          </a:solidFill>
          <a:ln/>
        </p:spPr>
      </p:sp>
      <p:pic>
        <p:nvPicPr>
          <p:cNvPr id="37" name="Image 6" descr="preencoded.png"/>
          <p:cNvPicPr>
            <a:picLocks noChangeAspect="1"/>
          </p:cNvPicPr>
          <p:nvPr/>
        </p:nvPicPr>
        <p:blipFill>
          <a:blip r:embed="rId7"/>
          <a:stretch>
            <a:fillRect/>
          </a:stretch>
        </p:blipFill>
        <p:spPr>
          <a:xfrm>
            <a:off x="4718304" y="2350008"/>
            <a:ext cx="256032" cy="256032"/>
          </a:xfrm>
          <a:prstGeom prst="rect">
            <a:avLst/>
          </a:prstGeom>
        </p:spPr>
      </p:pic>
      <p:sp>
        <p:nvSpPr>
          <p:cNvPr id="38" name="Text 29"/>
          <p:cNvSpPr/>
          <p:nvPr/>
        </p:nvSpPr>
        <p:spPr>
          <a:xfrm>
            <a:off x="5120640" y="2295144"/>
            <a:ext cx="3566160" cy="237744"/>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Responsible Disclosure</a:t>
            </a:r>
            <a:endParaRPr lang="en-US" sz="1000" dirty="0"/>
          </a:p>
        </p:txBody>
      </p:sp>
      <p:sp>
        <p:nvSpPr>
          <p:cNvPr id="39" name="Text 30"/>
          <p:cNvSpPr/>
          <p:nvPr/>
        </p:nvSpPr>
        <p:spPr>
          <a:xfrm>
            <a:off x="5120640" y="2551176"/>
            <a:ext cx="3566160" cy="566928"/>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Any critical vulnerability found → 90-day disclosure window to vendor before publication, following industry standard</a:t>
            </a:r>
            <a:endParaRPr lang="en-US" sz="950" dirty="0"/>
          </a:p>
        </p:txBody>
      </p:sp>
      <p:sp>
        <p:nvSpPr>
          <p:cNvPr id="40" name="Shape 31"/>
          <p:cNvSpPr/>
          <p:nvPr/>
        </p:nvSpPr>
        <p:spPr>
          <a:xfrm>
            <a:off x="4681728" y="3200400"/>
            <a:ext cx="329184" cy="329184"/>
          </a:xfrm>
          <a:prstGeom prst="ellipse">
            <a:avLst/>
          </a:prstGeom>
          <a:solidFill>
            <a:srgbClr val="059669"/>
          </a:solidFill>
          <a:ln/>
        </p:spPr>
      </p:sp>
      <p:pic>
        <p:nvPicPr>
          <p:cNvPr id="41" name="Image 7" descr="preencoded.png"/>
          <p:cNvPicPr>
            <a:picLocks noChangeAspect="1"/>
          </p:cNvPicPr>
          <p:nvPr/>
        </p:nvPicPr>
        <p:blipFill>
          <a:blip r:embed="rId8"/>
          <a:stretch>
            <a:fillRect/>
          </a:stretch>
        </p:blipFill>
        <p:spPr>
          <a:xfrm>
            <a:off x="4718304" y="3227832"/>
            <a:ext cx="256032" cy="256032"/>
          </a:xfrm>
          <a:prstGeom prst="rect">
            <a:avLst/>
          </a:prstGeom>
        </p:spPr>
      </p:pic>
      <p:sp>
        <p:nvSpPr>
          <p:cNvPr id="42" name="Text 32"/>
          <p:cNvSpPr/>
          <p:nvPr/>
        </p:nvSpPr>
        <p:spPr>
          <a:xfrm>
            <a:off x="5120640" y="3172968"/>
            <a:ext cx="3566160" cy="237744"/>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No Real User Harm</a:t>
            </a:r>
            <a:endParaRPr lang="en-US" sz="1000" dirty="0"/>
          </a:p>
        </p:txBody>
      </p:sp>
      <p:sp>
        <p:nvSpPr>
          <p:cNvPr id="43" name="Text 33"/>
          <p:cNvSpPr/>
          <p:nvPr/>
        </p:nvSpPr>
        <p:spPr>
          <a:xfrm>
            <a:off x="5120640" y="3429000"/>
            <a:ext cx="3566160" cy="566928"/>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PoC exploits run in isolated lab environment / emulator only — never deployed against real users or live services</a:t>
            </a:r>
            <a:endParaRPr lang="en-US" sz="950" dirty="0"/>
          </a:p>
        </p:txBody>
      </p:sp>
      <p:sp>
        <p:nvSpPr>
          <p:cNvPr id="44" name="Shape 34"/>
          <p:cNvSpPr/>
          <p:nvPr/>
        </p:nvSpPr>
        <p:spPr>
          <a:xfrm>
            <a:off x="4681728" y="4078224"/>
            <a:ext cx="329184" cy="329184"/>
          </a:xfrm>
          <a:prstGeom prst="ellipse">
            <a:avLst/>
          </a:prstGeom>
          <a:solidFill>
            <a:srgbClr val="D97706"/>
          </a:solidFill>
          <a:ln/>
        </p:spPr>
      </p:sp>
      <p:pic>
        <p:nvPicPr>
          <p:cNvPr id="45" name="Image 8" descr="preencoded.png"/>
          <p:cNvPicPr>
            <a:picLocks noChangeAspect="1"/>
          </p:cNvPicPr>
          <p:nvPr/>
        </p:nvPicPr>
        <p:blipFill>
          <a:blip r:embed="rId9"/>
          <a:stretch>
            <a:fillRect/>
          </a:stretch>
        </p:blipFill>
        <p:spPr>
          <a:xfrm>
            <a:off x="4718304" y="4105656"/>
            <a:ext cx="256032" cy="256032"/>
          </a:xfrm>
          <a:prstGeom prst="rect">
            <a:avLst/>
          </a:prstGeom>
        </p:spPr>
      </p:pic>
      <p:sp>
        <p:nvSpPr>
          <p:cNvPr id="46" name="Text 35"/>
          <p:cNvSpPr/>
          <p:nvPr/>
        </p:nvSpPr>
        <p:spPr>
          <a:xfrm>
            <a:off x="5120640" y="4050792"/>
            <a:ext cx="3566160" cy="237744"/>
          </a:xfrm>
          <a:prstGeom prst="rect">
            <a:avLst/>
          </a:prstGeom>
          <a:noFill/>
          <a:ln/>
        </p:spPr>
        <p:txBody>
          <a:bodyPr wrap="square" lIns="0" tIns="0" rIns="0" bIns="0" rtlCol="0" anchor="ctr"/>
          <a:lstStyle/>
          <a:p>
            <a:pPr indent="0" marL="0">
              <a:buNone/>
            </a:pPr>
            <a:r>
              <a:rPr lang="en-US" sz="1000" b="1" dirty="0">
                <a:solidFill>
                  <a:srgbClr val="1E2D40"/>
                </a:solidFill>
                <a:latin typeface="Trebuchet MS" pitchFamily="34" charset="0"/>
                <a:ea typeface="Trebuchet MS" pitchFamily="34" charset="-122"/>
                <a:cs typeface="Trebuchet MS" pitchFamily="34" charset="-120"/>
              </a:rPr>
              <a:t>ToS Awareness</a:t>
            </a:r>
            <a:endParaRPr lang="en-US" sz="1000" dirty="0"/>
          </a:p>
        </p:txBody>
      </p:sp>
      <p:sp>
        <p:nvSpPr>
          <p:cNvPr id="47" name="Text 36"/>
          <p:cNvSpPr/>
          <p:nvPr/>
        </p:nvSpPr>
        <p:spPr>
          <a:xfrm>
            <a:off x="5120640" y="4306824"/>
            <a:ext cx="3566160" cy="566928"/>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APK decompilation for security research is protected under fair use; we do not redistribute modified binaries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sp>
      <p:sp>
        <p:nvSpPr>
          <p:cNvPr id="3" name="Text 1"/>
          <p:cNvSpPr/>
          <p:nvPr/>
        </p:nvSpPr>
        <p:spPr>
          <a:xfrm>
            <a:off x="365760" y="73152"/>
            <a:ext cx="8412480" cy="475488"/>
          </a:xfrm>
          <a:prstGeom prst="rect">
            <a:avLst/>
          </a:prstGeom>
          <a:noFill/>
          <a:ln/>
        </p:spPr>
        <p:txBody>
          <a:bodyPr wrap="square" lIns="0" tIns="0" rIns="0" bIns="0" rtlCol="0" anchor="ctr"/>
          <a:lstStyle/>
          <a:p>
            <a:pPr indent="0" marL="0">
              <a:buNone/>
            </a:pPr>
            <a:r>
              <a:rPr lang="en-US" sz="2000" b="1" dirty="0">
                <a:solidFill>
                  <a:srgbClr val="00C8E0"/>
                </a:solidFill>
                <a:latin typeface="Trebuchet MS" pitchFamily="34" charset="0"/>
                <a:ea typeface="Trebuchet MS" pitchFamily="34" charset="-122"/>
                <a:cs typeface="Trebuchet MS" pitchFamily="34" charset="-120"/>
              </a:rPr>
              <a:t>Methodology: Two-Phase Pipeline with Known Constraints</a:t>
            </a:r>
            <a:endParaRPr lang="en-US" sz="2000" dirty="0"/>
          </a:p>
        </p:txBody>
      </p:sp>
      <p:sp>
        <p:nvSpPr>
          <p:cNvPr id="4" name="Text 2"/>
          <p:cNvSpPr/>
          <p:nvPr/>
        </p:nvSpPr>
        <p:spPr>
          <a:xfrm>
            <a:off x="365760" y="566928"/>
            <a:ext cx="8412480" cy="292608"/>
          </a:xfrm>
          <a:prstGeom prst="rect">
            <a:avLst/>
          </a:prstGeom>
          <a:noFill/>
          <a:ln/>
        </p:spPr>
        <p:txBody>
          <a:bodyPr wrap="square" lIns="0" tIns="0" rIns="0" bIns="0" rtlCol="0" anchor="ctr"/>
          <a:lstStyle/>
          <a:p>
            <a:pPr indent="0" marL="0">
              <a:buNone/>
            </a:pPr>
            <a:r>
              <a:rPr lang="en-US" sz="1050" i="1" dirty="0">
                <a:solidFill>
                  <a:srgbClr val="0099B0"/>
                </a:solidFill>
                <a:latin typeface="Calibri" pitchFamily="34" charset="0"/>
                <a:ea typeface="Calibri" pitchFamily="34" charset="-122"/>
                <a:cs typeface="Calibri" pitchFamily="34" charset="-120"/>
              </a:rPr>
              <a:t>Static taint analysis (FlowDroid + Soot) → Dynamic validation (Frida) — limitations acknowledged up front</a:t>
            </a:r>
            <a:endParaRPr lang="en-US" sz="1050" dirty="0"/>
          </a:p>
        </p:txBody>
      </p:sp>
      <p:sp>
        <p:nvSpPr>
          <p:cNvPr id="5" name="Shape 3"/>
          <p:cNvSpPr/>
          <p:nvPr/>
        </p:nvSpPr>
        <p:spPr>
          <a:xfrm>
            <a:off x="320040" y="1005840"/>
            <a:ext cx="4041648" cy="329184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1005840"/>
            <a:ext cx="4041648" cy="301752"/>
          </a:xfrm>
          <a:prstGeom prst="rect">
            <a:avLst/>
          </a:prstGeom>
          <a:solidFill>
            <a:srgbClr val="0B72BD"/>
          </a:solidFill>
          <a:ln/>
        </p:spPr>
      </p:sp>
      <p:sp>
        <p:nvSpPr>
          <p:cNvPr id="7" name="Text 5"/>
          <p:cNvSpPr/>
          <p:nvPr/>
        </p:nvSpPr>
        <p:spPr>
          <a:xfrm>
            <a:off x="457200" y="1033272"/>
            <a:ext cx="3767328" cy="256032"/>
          </a:xfrm>
          <a:prstGeom prst="rect">
            <a:avLst/>
          </a:prstGeom>
          <a:noFill/>
          <a:ln/>
        </p:spPr>
        <p:txBody>
          <a:bodyPr wrap="square" lIns="0" tIns="0" rIns="0" bIns="0" rtlCol="0" anchor="ctr"/>
          <a:lstStyle/>
          <a:p>
            <a:pPr indent="0" marL="0">
              <a:buNone/>
            </a:pPr>
            <a:r>
              <a:rPr lang="en-US" sz="1150" b="1" dirty="0">
                <a:solidFill>
                  <a:srgbClr val="FFFFFF"/>
                </a:solidFill>
                <a:latin typeface="Trebuchet MS" pitchFamily="34" charset="0"/>
                <a:ea typeface="Trebuchet MS" pitchFamily="34" charset="-122"/>
                <a:cs typeface="Trebuchet MS" pitchFamily="34" charset="-120"/>
              </a:rPr>
              <a:t>Phase 1 — Static Analysis</a:t>
            </a:r>
            <a:endParaRPr lang="en-US" sz="1150" dirty="0"/>
          </a:p>
        </p:txBody>
      </p:sp>
      <p:sp>
        <p:nvSpPr>
          <p:cNvPr id="8" name="Shape 6"/>
          <p:cNvSpPr/>
          <p:nvPr/>
        </p:nvSpPr>
        <p:spPr>
          <a:xfrm>
            <a:off x="429768" y="1444752"/>
            <a:ext cx="347472" cy="347472"/>
          </a:xfrm>
          <a:prstGeom prst="ellipse">
            <a:avLst/>
          </a:prstGeom>
          <a:solidFill>
            <a:srgbClr val="0B72BD"/>
          </a:solidFill>
          <a:ln/>
        </p:spPr>
      </p:sp>
      <p:pic>
        <p:nvPicPr>
          <p:cNvPr id="9" name="Image 0" descr="preencoded.png"/>
          <p:cNvPicPr>
            <a:picLocks noChangeAspect="1"/>
          </p:cNvPicPr>
          <p:nvPr/>
        </p:nvPicPr>
        <p:blipFill>
          <a:blip r:embed="rId1"/>
          <a:stretch>
            <a:fillRect/>
          </a:stretch>
        </p:blipFill>
        <p:spPr>
          <a:xfrm>
            <a:off x="466344" y="1472184"/>
            <a:ext cx="274320" cy="274320"/>
          </a:xfrm>
          <a:prstGeom prst="rect">
            <a:avLst/>
          </a:prstGeom>
        </p:spPr>
      </p:pic>
      <p:sp>
        <p:nvSpPr>
          <p:cNvPr id="10" name="Text 7"/>
          <p:cNvSpPr/>
          <p:nvPr/>
        </p:nvSpPr>
        <p:spPr>
          <a:xfrm>
            <a:off x="896112" y="1417320"/>
            <a:ext cx="3337560" cy="237744"/>
          </a:xfrm>
          <a:prstGeom prst="rect">
            <a:avLst/>
          </a:prstGeom>
          <a:noFill/>
          <a:ln/>
        </p:spPr>
        <p:txBody>
          <a:bodyPr wrap="square" lIns="0" tIns="0" rIns="0" bIns="0" rtlCol="0" anchor="ctr"/>
          <a:lstStyle/>
          <a:p>
            <a:pPr indent="0" marL="0">
              <a:buNone/>
            </a:pPr>
            <a:r>
              <a:rPr lang="en-US" sz="1050" b="1" dirty="0">
                <a:solidFill>
                  <a:srgbClr val="1E2D40"/>
                </a:solidFill>
                <a:latin typeface="Trebuchet MS" pitchFamily="34" charset="0"/>
                <a:ea typeface="Trebuchet MS" pitchFamily="34" charset="-122"/>
                <a:cs typeface="Trebuchet MS" pitchFamily="34" charset="-120"/>
              </a:rPr>
              <a:t>APK Decompilation</a:t>
            </a:r>
            <a:endParaRPr lang="en-US" sz="1050" dirty="0"/>
          </a:p>
        </p:txBody>
      </p:sp>
      <p:sp>
        <p:nvSpPr>
          <p:cNvPr id="11" name="Text 8"/>
          <p:cNvSpPr/>
          <p:nvPr/>
        </p:nvSpPr>
        <p:spPr>
          <a:xfrm>
            <a:off x="896112" y="1673352"/>
            <a:ext cx="3337560" cy="54864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apktool + jadx → Smali + embedded .tflite/.onnx</a:t>
            </a:r>
            <a:endParaRPr lang="en-US" sz="950" dirty="0"/>
          </a:p>
        </p:txBody>
      </p:sp>
      <p:sp>
        <p:nvSpPr>
          <p:cNvPr id="12" name="Shape 9"/>
          <p:cNvSpPr/>
          <p:nvPr/>
        </p:nvSpPr>
        <p:spPr>
          <a:xfrm>
            <a:off x="429768" y="2359152"/>
            <a:ext cx="347472" cy="347472"/>
          </a:xfrm>
          <a:prstGeom prst="ellipse">
            <a:avLst/>
          </a:prstGeom>
          <a:solidFill>
            <a:srgbClr val="0891B2"/>
          </a:solidFill>
          <a:ln/>
        </p:spPr>
      </p:sp>
      <p:pic>
        <p:nvPicPr>
          <p:cNvPr id="13" name="Image 1" descr="preencoded.png"/>
          <p:cNvPicPr>
            <a:picLocks noChangeAspect="1"/>
          </p:cNvPicPr>
          <p:nvPr/>
        </p:nvPicPr>
        <p:blipFill>
          <a:blip r:embed="rId2"/>
          <a:stretch>
            <a:fillRect/>
          </a:stretch>
        </p:blipFill>
        <p:spPr>
          <a:xfrm>
            <a:off x="466344" y="2386584"/>
            <a:ext cx="274320" cy="274320"/>
          </a:xfrm>
          <a:prstGeom prst="rect">
            <a:avLst/>
          </a:prstGeom>
        </p:spPr>
      </p:pic>
      <p:sp>
        <p:nvSpPr>
          <p:cNvPr id="14" name="Text 10"/>
          <p:cNvSpPr/>
          <p:nvPr/>
        </p:nvSpPr>
        <p:spPr>
          <a:xfrm>
            <a:off x="896112" y="2331720"/>
            <a:ext cx="3337560" cy="237744"/>
          </a:xfrm>
          <a:prstGeom prst="rect">
            <a:avLst/>
          </a:prstGeom>
          <a:noFill/>
          <a:ln/>
        </p:spPr>
        <p:txBody>
          <a:bodyPr wrap="square" lIns="0" tIns="0" rIns="0" bIns="0" rtlCol="0" anchor="ctr"/>
          <a:lstStyle/>
          <a:p>
            <a:pPr indent="0" marL="0">
              <a:buNone/>
            </a:pPr>
            <a:r>
              <a:rPr lang="en-US" sz="1050" b="1" dirty="0">
                <a:solidFill>
                  <a:srgbClr val="1E2D40"/>
                </a:solidFill>
                <a:latin typeface="Trebuchet MS" pitchFamily="34" charset="0"/>
                <a:ea typeface="Trebuchet MS" pitchFamily="34" charset="-122"/>
                <a:cs typeface="Trebuchet MS" pitchFamily="34" charset="-120"/>
              </a:rPr>
              <a:t>Custom Soot Transform</a:t>
            </a:r>
            <a:endParaRPr lang="en-US" sz="1050" dirty="0"/>
          </a:p>
        </p:txBody>
      </p:sp>
      <p:sp>
        <p:nvSpPr>
          <p:cNvPr id="15" name="Text 11"/>
          <p:cNvSpPr/>
          <p:nvPr/>
        </p:nvSpPr>
        <p:spPr>
          <a:xfrm>
            <a:off x="896112" y="2587752"/>
            <a:ext cx="3337560" cy="54864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Inter-procedural: user data → ML training path; ML-specific sources/sinks added</a:t>
            </a:r>
            <a:endParaRPr lang="en-US" sz="950" dirty="0"/>
          </a:p>
        </p:txBody>
      </p:sp>
      <p:sp>
        <p:nvSpPr>
          <p:cNvPr id="16" name="Shape 12"/>
          <p:cNvSpPr/>
          <p:nvPr/>
        </p:nvSpPr>
        <p:spPr>
          <a:xfrm>
            <a:off x="429768" y="3273552"/>
            <a:ext cx="347472" cy="347472"/>
          </a:xfrm>
          <a:prstGeom prst="ellipse">
            <a:avLst/>
          </a:prstGeom>
          <a:solidFill>
            <a:srgbClr val="0B72BD"/>
          </a:solidFill>
          <a:ln/>
        </p:spPr>
      </p:sp>
      <p:pic>
        <p:nvPicPr>
          <p:cNvPr id="17" name="Image 2" descr="preencoded.png"/>
          <p:cNvPicPr>
            <a:picLocks noChangeAspect="1"/>
          </p:cNvPicPr>
          <p:nvPr/>
        </p:nvPicPr>
        <p:blipFill>
          <a:blip r:embed="rId3"/>
          <a:stretch>
            <a:fillRect/>
          </a:stretch>
        </p:blipFill>
        <p:spPr>
          <a:xfrm>
            <a:off x="466344" y="3300984"/>
            <a:ext cx="274320" cy="274320"/>
          </a:xfrm>
          <a:prstGeom prst="rect">
            <a:avLst/>
          </a:prstGeom>
        </p:spPr>
      </p:pic>
      <p:sp>
        <p:nvSpPr>
          <p:cNvPr id="18" name="Text 13"/>
          <p:cNvSpPr/>
          <p:nvPr/>
        </p:nvSpPr>
        <p:spPr>
          <a:xfrm>
            <a:off x="896112" y="3246120"/>
            <a:ext cx="3337560" cy="237744"/>
          </a:xfrm>
          <a:prstGeom prst="rect">
            <a:avLst/>
          </a:prstGeom>
          <a:noFill/>
          <a:ln/>
        </p:spPr>
        <p:txBody>
          <a:bodyPr wrap="square" lIns="0" tIns="0" rIns="0" bIns="0" rtlCol="0" anchor="ctr"/>
          <a:lstStyle/>
          <a:p>
            <a:pPr indent="0" marL="0">
              <a:buNone/>
            </a:pPr>
            <a:r>
              <a:rPr lang="en-US" sz="1050" b="1" dirty="0">
                <a:solidFill>
                  <a:srgbClr val="1E2D40"/>
                </a:solidFill>
                <a:latin typeface="Trebuchet MS" pitchFamily="34" charset="0"/>
                <a:ea typeface="Trebuchet MS" pitchFamily="34" charset="-122"/>
                <a:cs typeface="Trebuchet MS" pitchFamily="34" charset="-120"/>
              </a:rPr>
              <a:t>FlowDroid Taint</a:t>
            </a:r>
            <a:endParaRPr lang="en-US" sz="1050" dirty="0"/>
          </a:p>
        </p:txBody>
      </p:sp>
      <p:sp>
        <p:nvSpPr>
          <p:cNvPr id="19" name="Text 14"/>
          <p:cNvSpPr/>
          <p:nvPr/>
        </p:nvSpPr>
        <p:spPr>
          <a:xfrm>
            <a:off x="896112" y="3502152"/>
            <a:ext cx="3337560" cy="54864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PII sources (mic/camera/location) → inference sinks</a:t>
            </a:r>
            <a:endParaRPr lang="en-US" sz="950" dirty="0"/>
          </a:p>
        </p:txBody>
      </p:sp>
      <p:sp>
        <p:nvSpPr>
          <p:cNvPr id="20" name="Shape 15"/>
          <p:cNvSpPr/>
          <p:nvPr/>
        </p:nvSpPr>
        <p:spPr>
          <a:xfrm>
            <a:off x="320040" y="4315968"/>
            <a:ext cx="4041648" cy="566928"/>
          </a:xfrm>
          <a:prstGeom prst="rect">
            <a:avLst/>
          </a:prstGeom>
          <a:solidFill>
            <a:srgbClr val="FEF3C7"/>
          </a:solidFill>
          <a:ln w="6350">
            <a:solidFill>
              <a:srgbClr val="D97706"/>
            </a:solidFill>
            <a:prstDash val="solid"/>
          </a:ln>
        </p:spPr>
      </p:sp>
      <p:sp>
        <p:nvSpPr>
          <p:cNvPr id="21" name="Shape 16"/>
          <p:cNvSpPr/>
          <p:nvPr/>
        </p:nvSpPr>
        <p:spPr>
          <a:xfrm>
            <a:off x="320040" y="4315968"/>
            <a:ext cx="45720" cy="566928"/>
          </a:xfrm>
          <a:prstGeom prst="rect">
            <a:avLst/>
          </a:prstGeom>
          <a:solidFill>
            <a:srgbClr val="D97706"/>
          </a:solidFill>
          <a:ln/>
        </p:spPr>
      </p:sp>
      <p:sp>
        <p:nvSpPr>
          <p:cNvPr id="22" name="Text 17"/>
          <p:cNvSpPr/>
          <p:nvPr/>
        </p:nvSpPr>
        <p:spPr>
          <a:xfrm>
            <a:off x="438912" y="4352544"/>
            <a:ext cx="3767328" cy="475488"/>
          </a:xfrm>
          <a:prstGeom prst="rect">
            <a:avLst/>
          </a:prstGeom>
          <a:noFill/>
          <a:ln/>
        </p:spPr>
        <p:txBody>
          <a:bodyPr wrap="square" lIns="0" tIns="0" rIns="0" bIns="0" rtlCol="0" anchor="ctr"/>
          <a:lstStyle/>
          <a:p>
            <a:pPr indent="0" marL="0">
              <a:buNone/>
            </a:pPr>
            <a:r>
              <a:rPr lang="en-US" sz="900" i="1" dirty="0">
                <a:solidFill>
                  <a:srgbClr val="92400E"/>
                </a:solidFill>
                <a:latin typeface="Calibri" pitchFamily="34" charset="0"/>
                <a:ea typeface="Calibri" pitchFamily="34" charset="-122"/>
                <a:cs typeface="Calibri" pitchFamily="34" charset="-120"/>
              </a:rPr>
              <a:t>⚠  Tool Limit: FlowDroid loses track through Java reflection &amp; dynamic class loading — common in ML frameworks. Manual review applied to flagged cases.</a:t>
            </a:r>
            <a:endParaRPr lang="en-US" sz="900" dirty="0"/>
          </a:p>
        </p:txBody>
      </p:sp>
      <p:sp>
        <p:nvSpPr>
          <p:cNvPr id="23" name="Text 18"/>
          <p:cNvSpPr/>
          <p:nvPr/>
        </p:nvSpPr>
        <p:spPr>
          <a:xfrm>
            <a:off x="4334256" y="2651760"/>
            <a:ext cx="502920" cy="457200"/>
          </a:xfrm>
          <a:prstGeom prst="rect">
            <a:avLst/>
          </a:prstGeom>
          <a:noFill/>
          <a:ln/>
        </p:spPr>
        <p:txBody>
          <a:bodyPr wrap="square" lIns="0" tIns="0" rIns="0" bIns="0" rtlCol="0" anchor="ctr"/>
          <a:lstStyle/>
          <a:p>
            <a:pPr algn="ctr" indent="0" marL="0">
              <a:buNone/>
            </a:pPr>
            <a:r>
              <a:rPr lang="en-US" sz="3000" b="1" dirty="0">
                <a:solidFill>
                  <a:srgbClr val="00C8E0"/>
                </a:solidFill>
              </a:rPr>
              <a:t>→</a:t>
            </a:r>
            <a:endParaRPr lang="en-US" sz="3000" dirty="0"/>
          </a:p>
        </p:txBody>
      </p:sp>
      <p:sp>
        <p:nvSpPr>
          <p:cNvPr id="24" name="Shape 19"/>
          <p:cNvSpPr/>
          <p:nvPr/>
        </p:nvSpPr>
        <p:spPr>
          <a:xfrm>
            <a:off x="4800600" y="1005840"/>
            <a:ext cx="4023360" cy="329184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25" name="Shape 20"/>
          <p:cNvSpPr/>
          <p:nvPr/>
        </p:nvSpPr>
        <p:spPr>
          <a:xfrm>
            <a:off x="4800600" y="1005840"/>
            <a:ext cx="4023360" cy="301752"/>
          </a:xfrm>
          <a:prstGeom prst="rect">
            <a:avLst/>
          </a:prstGeom>
          <a:solidFill>
            <a:srgbClr val="00897B"/>
          </a:solidFill>
          <a:ln/>
        </p:spPr>
      </p:sp>
      <p:sp>
        <p:nvSpPr>
          <p:cNvPr id="26" name="Text 21"/>
          <p:cNvSpPr/>
          <p:nvPr/>
        </p:nvSpPr>
        <p:spPr>
          <a:xfrm>
            <a:off x="4937760" y="1033272"/>
            <a:ext cx="3749040" cy="256032"/>
          </a:xfrm>
          <a:prstGeom prst="rect">
            <a:avLst/>
          </a:prstGeom>
          <a:noFill/>
          <a:ln/>
        </p:spPr>
        <p:txBody>
          <a:bodyPr wrap="square" lIns="0" tIns="0" rIns="0" bIns="0" rtlCol="0" anchor="ctr"/>
          <a:lstStyle/>
          <a:p>
            <a:pPr indent="0" marL="0">
              <a:buNone/>
            </a:pPr>
            <a:r>
              <a:rPr lang="en-US" sz="1150" b="1" dirty="0">
                <a:solidFill>
                  <a:srgbClr val="FFFFFF"/>
                </a:solidFill>
                <a:latin typeface="Trebuchet MS" pitchFamily="34" charset="0"/>
                <a:ea typeface="Trebuchet MS" pitchFamily="34" charset="-122"/>
                <a:cs typeface="Trebuchet MS" pitchFamily="34" charset="-120"/>
              </a:rPr>
              <a:t>Phase 2 — Dynamic Validation</a:t>
            </a:r>
            <a:endParaRPr lang="en-US" sz="1150" dirty="0"/>
          </a:p>
        </p:txBody>
      </p:sp>
      <p:sp>
        <p:nvSpPr>
          <p:cNvPr id="27" name="Shape 22"/>
          <p:cNvSpPr/>
          <p:nvPr/>
        </p:nvSpPr>
        <p:spPr>
          <a:xfrm>
            <a:off x="4910328" y="1444752"/>
            <a:ext cx="347472" cy="347472"/>
          </a:xfrm>
          <a:prstGeom prst="ellipse">
            <a:avLst/>
          </a:prstGeom>
          <a:solidFill>
            <a:srgbClr val="DC2626"/>
          </a:solidFill>
          <a:ln/>
        </p:spPr>
      </p:sp>
      <p:pic>
        <p:nvPicPr>
          <p:cNvPr id="28" name="Image 3" descr="preencoded.png"/>
          <p:cNvPicPr>
            <a:picLocks noChangeAspect="1"/>
          </p:cNvPicPr>
          <p:nvPr/>
        </p:nvPicPr>
        <p:blipFill>
          <a:blip r:embed="rId4"/>
          <a:stretch>
            <a:fillRect/>
          </a:stretch>
        </p:blipFill>
        <p:spPr>
          <a:xfrm>
            <a:off x="4946904" y="1472184"/>
            <a:ext cx="274320" cy="274320"/>
          </a:xfrm>
          <a:prstGeom prst="rect">
            <a:avLst/>
          </a:prstGeom>
        </p:spPr>
      </p:pic>
      <p:sp>
        <p:nvSpPr>
          <p:cNvPr id="29" name="Text 23"/>
          <p:cNvSpPr/>
          <p:nvPr/>
        </p:nvSpPr>
        <p:spPr>
          <a:xfrm>
            <a:off x="5376672" y="1417320"/>
            <a:ext cx="3310128" cy="237744"/>
          </a:xfrm>
          <a:prstGeom prst="rect">
            <a:avLst/>
          </a:prstGeom>
          <a:noFill/>
          <a:ln/>
        </p:spPr>
        <p:txBody>
          <a:bodyPr wrap="square" lIns="0" tIns="0" rIns="0" bIns="0" rtlCol="0" anchor="ctr"/>
          <a:lstStyle/>
          <a:p>
            <a:pPr indent="0" marL="0">
              <a:buNone/>
            </a:pPr>
            <a:r>
              <a:rPr lang="en-US" sz="1050" b="1" dirty="0">
                <a:solidFill>
                  <a:srgbClr val="1E2D40"/>
                </a:solidFill>
                <a:latin typeface="Trebuchet MS" pitchFamily="34" charset="0"/>
                <a:ea typeface="Trebuchet MS" pitchFamily="34" charset="-122"/>
                <a:cs typeface="Trebuchet MS" pitchFamily="34" charset="-120"/>
              </a:rPr>
              <a:t>PoC Exploit Crafting</a:t>
            </a:r>
            <a:endParaRPr lang="en-US" sz="1050" dirty="0"/>
          </a:p>
        </p:txBody>
      </p:sp>
      <p:sp>
        <p:nvSpPr>
          <p:cNvPr id="30" name="Text 24"/>
          <p:cNvSpPr/>
          <p:nvPr/>
        </p:nvSpPr>
        <p:spPr>
          <a:xfrm>
            <a:off x="5376672" y="1673352"/>
            <a:ext cx="3310128" cy="54864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Poisoned inputs targeting confirmed static surfaces; exploitability verified in emulator</a:t>
            </a:r>
            <a:endParaRPr lang="en-US" sz="950" dirty="0"/>
          </a:p>
        </p:txBody>
      </p:sp>
      <p:sp>
        <p:nvSpPr>
          <p:cNvPr id="31" name="Shape 25"/>
          <p:cNvSpPr/>
          <p:nvPr/>
        </p:nvSpPr>
        <p:spPr>
          <a:xfrm>
            <a:off x="4910328" y="2359152"/>
            <a:ext cx="347472" cy="347472"/>
          </a:xfrm>
          <a:prstGeom prst="ellipse">
            <a:avLst/>
          </a:prstGeom>
          <a:solidFill>
            <a:srgbClr val="00897B"/>
          </a:solidFill>
          <a:ln/>
        </p:spPr>
      </p:sp>
      <p:pic>
        <p:nvPicPr>
          <p:cNvPr id="32" name="Image 4" descr="preencoded.png"/>
          <p:cNvPicPr>
            <a:picLocks noChangeAspect="1"/>
          </p:cNvPicPr>
          <p:nvPr/>
        </p:nvPicPr>
        <p:blipFill>
          <a:blip r:embed="rId5"/>
          <a:stretch>
            <a:fillRect/>
          </a:stretch>
        </p:blipFill>
        <p:spPr>
          <a:xfrm>
            <a:off x="4946904" y="2386584"/>
            <a:ext cx="274320" cy="274320"/>
          </a:xfrm>
          <a:prstGeom prst="rect">
            <a:avLst/>
          </a:prstGeom>
        </p:spPr>
      </p:pic>
      <p:sp>
        <p:nvSpPr>
          <p:cNvPr id="33" name="Text 26"/>
          <p:cNvSpPr/>
          <p:nvPr/>
        </p:nvSpPr>
        <p:spPr>
          <a:xfrm>
            <a:off x="5376672" y="2331720"/>
            <a:ext cx="3310128" cy="237744"/>
          </a:xfrm>
          <a:prstGeom prst="rect">
            <a:avLst/>
          </a:prstGeom>
          <a:noFill/>
          <a:ln/>
        </p:spPr>
        <p:txBody>
          <a:bodyPr wrap="square" lIns="0" tIns="0" rIns="0" bIns="0" rtlCol="0" anchor="ctr"/>
          <a:lstStyle/>
          <a:p>
            <a:pPr indent="0" marL="0">
              <a:buNone/>
            </a:pPr>
            <a:r>
              <a:rPr lang="en-US" sz="1050" b="1" dirty="0">
                <a:solidFill>
                  <a:srgbClr val="1E2D40"/>
                </a:solidFill>
                <a:latin typeface="Trebuchet MS" pitchFamily="34" charset="0"/>
                <a:ea typeface="Trebuchet MS" pitchFamily="34" charset="-122"/>
                <a:cs typeface="Trebuchet MS" pitchFamily="34" charset="-120"/>
              </a:rPr>
              <a:t>Frida Instrumentation</a:t>
            </a:r>
            <a:endParaRPr lang="en-US" sz="1050" dirty="0"/>
          </a:p>
        </p:txBody>
      </p:sp>
      <p:sp>
        <p:nvSpPr>
          <p:cNvPr id="34" name="Text 27"/>
          <p:cNvSpPr/>
          <p:nvPr/>
        </p:nvSpPr>
        <p:spPr>
          <a:xfrm>
            <a:off x="5376672" y="2587752"/>
            <a:ext cx="3310128" cy="54864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Strategy: repackaged APK method (avoids rooting; broader app coverage)</a:t>
            </a:r>
            <a:endParaRPr lang="en-US" sz="950" dirty="0"/>
          </a:p>
        </p:txBody>
      </p:sp>
      <p:sp>
        <p:nvSpPr>
          <p:cNvPr id="35" name="Shape 28"/>
          <p:cNvSpPr/>
          <p:nvPr/>
        </p:nvSpPr>
        <p:spPr>
          <a:xfrm>
            <a:off x="4910328" y="3273552"/>
            <a:ext cx="347472" cy="347472"/>
          </a:xfrm>
          <a:prstGeom prst="ellipse">
            <a:avLst/>
          </a:prstGeom>
          <a:solidFill>
            <a:srgbClr val="059669"/>
          </a:solidFill>
          <a:ln/>
        </p:spPr>
      </p:sp>
      <p:pic>
        <p:nvPicPr>
          <p:cNvPr id="36" name="Image 5" descr="preencoded.png"/>
          <p:cNvPicPr>
            <a:picLocks noChangeAspect="1"/>
          </p:cNvPicPr>
          <p:nvPr/>
        </p:nvPicPr>
        <p:blipFill>
          <a:blip r:embed="rId6"/>
          <a:stretch>
            <a:fillRect/>
          </a:stretch>
        </p:blipFill>
        <p:spPr>
          <a:xfrm>
            <a:off x="4946904" y="3300984"/>
            <a:ext cx="274320" cy="274320"/>
          </a:xfrm>
          <a:prstGeom prst="rect">
            <a:avLst/>
          </a:prstGeom>
        </p:spPr>
      </p:pic>
      <p:sp>
        <p:nvSpPr>
          <p:cNvPr id="37" name="Text 29"/>
          <p:cNvSpPr/>
          <p:nvPr/>
        </p:nvSpPr>
        <p:spPr>
          <a:xfrm>
            <a:off x="5376672" y="3246120"/>
            <a:ext cx="3310128" cy="237744"/>
          </a:xfrm>
          <a:prstGeom prst="rect">
            <a:avLst/>
          </a:prstGeom>
          <a:noFill/>
          <a:ln/>
        </p:spPr>
        <p:txBody>
          <a:bodyPr wrap="square" lIns="0" tIns="0" rIns="0" bIns="0" rtlCol="0" anchor="ctr"/>
          <a:lstStyle/>
          <a:p>
            <a:pPr indent="0" marL="0">
              <a:buNone/>
            </a:pPr>
            <a:r>
              <a:rPr lang="en-US" sz="1050" b="1" dirty="0">
                <a:solidFill>
                  <a:srgbClr val="1E2D40"/>
                </a:solidFill>
                <a:latin typeface="Trebuchet MS" pitchFamily="34" charset="0"/>
                <a:ea typeface="Trebuchet MS" pitchFamily="34" charset="-122"/>
                <a:cs typeface="Trebuchet MS" pitchFamily="34" charset="-120"/>
              </a:rPr>
              <a:t>Antidote Applicability</a:t>
            </a:r>
            <a:endParaRPr lang="en-US" sz="1050" dirty="0"/>
          </a:p>
        </p:txBody>
      </p:sp>
      <p:sp>
        <p:nvSpPr>
          <p:cNvPr id="38" name="Text 30"/>
          <p:cNvSpPr/>
          <p:nvPr/>
        </p:nvSpPr>
        <p:spPr>
          <a:xfrm>
            <a:off x="5376672" y="3502152"/>
            <a:ext cx="3310128" cy="548640"/>
          </a:xfrm>
          <a:prstGeom prst="rect">
            <a:avLst/>
          </a:prstGeom>
          <a:noFill/>
          <a:ln/>
        </p:spPr>
        <p:txBody>
          <a:bodyPr wrap="square" lIns="0" tIns="0" rIns="0" bIns="0" rtlCol="0" anchor="ctr"/>
          <a:lstStyle/>
          <a:p>
            <a:pPr indent="0" marL="0">
              <a:buNone/>
            </a:pPr>
            <a:r>
              <a:rPr lang="en-US" sz="950" dirty="0">
                <a:solidFill>
                  <a:srgbClr val="3A5068"/>
                </a:solidFill>
                <a:latin typeface="Calibri" pitchFamily="34" charset="0"/>
                <a:ea typeface="Calibri" pitchFamily="34" charset="-122"/>
                <a:cs typeface="Calibri" pitchFamily="34" charset="-120"/>
              </a:rPr>
              <a:t>For each poisoning surface: can Antidote's pretrained-feature detector be applied as runtime shield?</a:t>
            </a:r>
            <a:endParaRPr lang="en-US" sz="950" dirty="0"/>
          </a:p>
        </p:txBody>
      </p:sp>
      <p:sp>
        <p:nvSpPr>
          <p:cNvPr id="39" name="Shape 31"/>
          <p:cNvSpPr/>
          <p:nvPr/>
        </p:nvSpPr>
        <p:spPr>
          <a:xfrm>
            <a:off x="4800600" y="4315968"/>
            <a:ext cx="4023360" cy="566928"/>
          </a:xfrm>
          <a:prstGeom prst="rect">
            <a:avLst/>
          </a:prstGeom>
          <a:solidFill>
            <a:srgbClr val="FEF3C7"/>
          </a:solidFill>
          <a:ln w="6350">
            <a:solidFill>
              <a:srgbClr val="D97706"/>
            </a:solidFill>
            <a:prstDash val="solid"/>
          </a:ln>
        </p:spPr>
      </p:sp>
      <p:sp>
        <p:nvSpPr>
          <p:cNvPr id="40" name="Shape 32"/>
          <p:cNvSpPr/>
          <p:nvPr/>
        </p:nvSpPr>
        <p:spPr>
          <a:xfrm>
            <a:off x="4800600" y="4315968"/>
            <a:ext cx="45720" cy="566928"/>
          </a:xfrm>
          <a:prstGeom prst="rect">
            <a:avLst/>
          </a:prstGeom>
          <a:solidFill>
            <a:srgbClr val="D97706"/>
          </a:solidFill>
          <a:ln/>
        </p:spPr>
      </p:sp>
      <p:sp>
        <p:nvSpPr>
          <p:cNvPr id="41" name="Text 33"/>
          <p:cNvSpPr/>
          <p:nvPr/>
        </p:nvSpPr>
        <p:spPr>
          <a:xfrm>
            <a:off x="4919472" y="4352544"/>
            <a:ext cx="3822192" cy="475488"/>
          </a:xfrm>
          <a:prstGeom prst="rect">
            <a:avLst/>
          </a:prstGeom>
          <a:noFill/>
          <a:ln/>
        </p:spPr>
        <p:txBody>
          <a:bodyPr wrap="square" lIns="0" tIns="0" rIns="0" bIns="0" rtlCol="0" anchor="ctr"/>
          <a:lstStyle/>
          <a:p>
            <a:pPr indent="0" marL="0">
              <a:buNone/>
            </a:pPr>
            <a:r>
              <a:rPr lang="en-US" sz="900" i="1" dirty="0">
                <a:solidFill>
                  <a:srgbClr val="92400E"/>
                </a:solidFill>
                <a:latin typeface="Calibri" pitchFamily="34" charset="0"/>
                <a:ea typeface="Calibri" pitchFamily="34" charset="-122"/>
                <a:cs typeface="Calibri" pitchFamily="34" charset="-120"/>
              </a:rPr>
              <a:t>⚠  Frida requires root OR APK repackaging. We use repackaging: broader coverage but adds ~2 days per batch. Rooted emulator used for preliminary validation.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sp>
      <p:sp>
        <p:nvSpPr>
          <p:cNvPr id="3" name="Text 1"/>
          <p:cNvSpPr/>
          <p:nvPr/>
        </p:nvSpPr>
        <p:spPr>
          <a:xfrm>
            <a:off x="365760" y="73152"/>
            <a:ext cx="8412480" cy="475488"/>
          </a:xfrm>
          <a:prstGeom prst="rect">
            <a:avLst/>
          </a:prstGeom>
          <a:noFill/>
          <a:ln/>
        </p:spPr>
        <p:txBody>
          <a:bodyPr wrap="square" lIns="0" tIns="0" rIns="0" bIns="0" rtlCol="0" anchor="ctr"/>
          <a:lstStyle/>
          <a:p>
            <a:pPr indent="0" marL="0">
              <a:buNone/>
            </a:pPr>
            <a:r>
              <a:rPr lang="en-US" sz="2000" b="1" dirty="0">
                <a:solidFill>
                  <a:srgbClr val="00C8E0"/>
                </a:solidFill>
                <a:latin typeface="Trebuchet MS" pitchFamily="34" charset="0"/>
                <a:ea typeface="Trebuchet MS" pitchFamily="34" charset="-122"/>
                <a:cs typeface="Trebuchet MS" pitchFamily="34" charset="-120"/>
              </a:rPr>
              <a:t>Vulnerability Taxonomy, Metrics &amp; Success Criteria</a:t>
            </a:r>
            <a:endParaRPr lang="en-US" sz="2000" dirty="0"/>
          </a:p>
        </p:txBody>
      </p:sp>
      <p:sp>
        <p:nvSpPr>
          <p:cNvPr id="4" name="Text 2"/>
          <p:cNvSpPr/>
          <p:nvPr/>
        </p:nvSpPr>
        <p:spPr>
          <a:xfrm>
            <a:off x="365760" y="566928"/>
            <a:ext cx="8412480" cy="292608"/>
          </a:xfrm>
          <a:prstGeom prst="rect">
            <a:avLst/>
          </a:prstGeom>
          <a:noFill/>
          <a:ln/>
        </p:spPr>
        <p:txBody>
          <a:bodyPr wrap="square" lIns="0" tIns="0" rIns="0" bIns="0" rtlCol="0" anchor="ctr"/>
          <a:lstStyle/>
          <a:p>
            <a:pPr indent="0" marL="0">
              <a:buNone/>
            </a:pPr>
            <a:r>
              <a:rPr lang="en-US" sz="1050" i="1" dirty="0">
                <a:solidFill>
                  <a:srgbClr val="0099B0"/>
                </a:solidFill>
                <a:latin typeface="Calibri" pitchFamily="34" charset="0"/>
                <a:ea typeface="Calibri" pitchFamily="34" charset="-122"/>
                <a:cs typeface="Calibri" pitchFamily="34" charset="-120"/>
              </a:rPr>
              <a:t>Prioritized targets with measurable outcomes — including what success looks like if findings are negative</a:t>
            </a:r>
            <a:endParaRPr lang="en-US" sz="1050" dirty="0"/>
          </a:p>
        </p:txBody>
      </p:sp>
      <p:sp>
        <p:nvSpPr>
          <p:cNvPr id="5" name="Shape 3"/>
          <p:cNvSpPr/>
          <p:nvPr/>
        </p:nvSpPr>
        <p:spPr>
          <a:xfrm>
            <a:off x="320040" y="1005840"/>
            <a:ext cx="4206240" cy="1783080"/>
          </a:xfrm>
          <a:prstGeom prst="rect">
            <a:avLst/>
          </a:prstGeom>
          <a:solidFill>
            <a:srgbClr val="FFFFFF"/>
          </a:solidFill>
          <a:ln w="6350">
            <a:solidFill>
              <a:srgbClr val="DC2626"/>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1005840"/>
            <a:ext cx="4206240" cy="292608"/>
          </a:xfrm>
          <a:prstGeom prst="rect">
            <a:avLst/>
          </a:prstGeom>
          <a:solidFill>
            <a:srgbClr val="DC2626"/>
          </a:solidFill>
          <a:ln/>
        </p:spPr>
      </p:sp>
      <p:pic>
        <p:nvPicPr>
          <p:cNvPr id="7" name="Image 0" descr="preencoded.png"/>
          <p:cNvPicPr>
            <a:picLocks noChangeAspect="1"/>
          </p:cNvPicPr>
          <p:nvPr/>
        </p:nvPicPr>
        <p:blipFill>
          <a:blip r:embed="rId1"/>
          <a:stretch>
            <a:fillRect/>
          </a:stretch>
        </p:blipFill>
        <p:spPr>
          <a:xfrm>
            <a:off x="411480" y="1042416"/>
            <a:ext cx="219456" cy="219456"/>
          </a:xfrm>
          <a:prstGeom prst="rect">
            <a:avLst/>
          </a:prstGeom>
        </p:spPr>
      </p:pic>
      <p:sp>
        <p:nvSpPr>
          <p:cNvPr id="8" name="Text 5"/>
          <p:cNvSpPr/>
          <p:nvPr/>
        </p:nvSpPr>
        <p:spPr>
          <a:xfrm>
            <a:off x="722376" y="1051560"/>
            <a:ext cx="3675888" cy="21945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Poisoning Surfaces (PRIMARY)</a:t>
            </a:r>
            <a:endParaRPr lang="en-US" sz="1000" dirty="0"/>
          </a:p>
        </p:txBody>
      </p:sp>
      <p:sp>
        <p:nvSpPr>
          <p:cNvPr id="9" name="Text 6"/>
          <p:cNvSpPr/>
          <p:nvPr/>
        </p:nvSpPr>
        <p:spPr>
          <a:xfrm>
            <a:off x="429768" y="1353312"/>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User data → retraining without anomaly detection</a:t>
            </a:r>
            <a:endParaRPr lang="en-US" sz="950" dirty="0"/>
          </a:p>
        </p:txBody>
      </p:sp>
      <p:sp>
        <p:nvSpPr>
          <p:cNvPr id="10" name="Text 7"/>
          <p:cNvSpPr/>
          <p:nvPr/>
        </p:nvSpPr>
        <p:spPr>
          <a:xfrm>
            <a:off x="429768" y="1792224"/>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Truth Serum conditions directly met</a:t>
            </a:r>
            <a:endParaRPr lang="en-US" sz="950" dirty="0"/>
          </a:p>
        </p:txBody>
      </p:sp>
      <p:sp>
        <p:nvSpPr>
          <p:cNvPr id="11" name="Text 8"/>
          <p:cNvSpPr/>
          <p:nvPr/>
        </p:nvSpPr>
        <p:spPr>
          <a:xfrm>
            <a:off x="429768" y="2231136"/>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Antidote applicability highest here</a:t>
            </a:r>
            <a:endParaRPr lang="en-US" sz="950" dirty="0"/>
          </a:p>
        </p:txBody>
      </p:sp>
      <p:sp>
        <p:nvSpPr>
          <p:cNvPr id="12" name="Shape 9"/>
          <p:cNvSpPr/>
          <p:nvPr/>
        </p:nvSpPr>
        <p:spPr>
          <a:xfrm>
            <a:off x="4727448" y="1005840"/>
            <a:ext cx="4206240" cy="1783080"/>
          </a:xfrm>
          <a:prstGeom prst="rect">
            <a:avLst/>
          </a:prstGeom>
          <a:solidFill>
            <a:srgbClr val="FFFFFF"/>
          </a:solidFill>
          <a:ln w="6350">
            <a:solidFill>
              <a:srgbClr val="D97706"/>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727448" y="1005840"/>
            <a:ext cx="4206240" cy="292608"/>
          </a:xfrm>
          <a:prstGeom prst="rect">
            <a:avLst/>
          </a:prstGeom>
          <a:solidFill>
            <a:srgbClr val="D97706"/>
          </a:solidFill>
          <a:ln/>
        </p:spPr>
      </p:sp>
      <p:pic>
        <p:nvPicPr>
          <p:cNvPr id="14" name="Image 1" descr="preencoded.png"/>
          <p:cNvPicPr>
            <a:picLocks noChangeAspect="1"/>
          </p:cNvPicPr>
          <p:nvPr/>
        </p:nvPicPr>
        <p:blipFill>
          <a:blip r:embed="rId2"/>
          <a:stretch>
            <a:fillRect/>
          </a:stretch>
        </p:blipFill>
        <p:spPr>
          <a:xfrm>
            <a:off x="4818888" y="1042416"/>
            <a:ext cx="219456" cy="219456"/>
          </a:xfrm>
          <a:prstGeom prst="rect">
            <a:avLst/>
          </a:prstGeom>
        </p:spPr>
      </p:pic>
      <p:sp>
        <p:nvSpPr>
          <p:cNvPr id="15" name="Text 11"/>
          <p:cNvSpPr/>
          <p:nvPr/>
        </p:nvSpPr>
        <p:spPr>
          <a:xfrm>
            <a:off x="5129784" y="1051560"/>
            <a:ext cx="3675888" cy="21945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Model Exposure (PRIMARY)</a:t>
            </a:r>
            <a:endParaRPr lang="en-US" sz="1000" dirty="0"/>
          </a:p>
        </p:txBody>
      </p:sp>
      <p:sp>
        <p:nvSpPr>
          <p:cNvPr id="16" name="Text 12"/>
          <p:cNvSpPr/>
          <p:nvPr/>
        </p:nvSpPr>
        <p:spPr>
          <a:xfrm>
            <a:off x="4837176" y="1353312"/>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Unencrypted .tflite/.onnx in APK assets</a:t>
            </a:r>
            <a:endParaRPr lang="en-US" sz="950" dirty="0"/>
          </a:p>
        </p:txBody>
      </p:sp>
      <p:sp>
        <p:nvSpPr>
          <p:cNvPr id="17" name="Text 13"/>
          <p:cNvSpPr/>
          <p:nvPr/>
        </p:nvSpPr>
        <p:spPr>
          <a:xfrm>
            <a:off x="4837176" y="1792224"/>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No integrity check on model load</a:t>
            </a:r>
            <a:endParaRPr lang="en-US" sz="950" dirty="0"/>
          </a:p>
        </p:txBody>
      </p:sp>
      <p:sp>
        <p:nvSpPr>
          <p:cNvPr id="18" name="Text 14"/>
          <p:cNvSpPr/>
          <p:nvPr/>
        </p:nvSpPr>
        <p:spPr>
          <a:xfrm>
            <a:off x="4837176" y="2231136"/>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3A5068"/>
                </a:solidFill>
                <a:latin typeface="Calibri" pitchFamily="34" charset="0"/>
                <a:ea typeface="Calibri" pitchFamily="34" charset="-122"/>
                <a:cs typeface="Calibri" pitchFamily="34" charset="-120"/>
              </a:rPr>
              <a:t>Architecture leak enables adversarial crafting</a:t>
            </a:r>
            <a:endParaRPr lang="en-US" sz="950" dirty="0"/>
          </a:p>
        </p:txBody>
      </p:sp>
      <p:sp>
        <p:nvSpPr>
          <p:cNvPr id="19" name="Shape 15"/>
          <p:cNvSpPr/>
          <p:nvPr/>
        </p:nvSpPr>
        <p:spPr>
          <a:xfrm>
            <a:off x="320040" y="2880360"/>
            <a:ext cx="4206240" cy="1783080"/>
          </a:xfrm>
          <a:prstGeom prst="rect">
            <a:avLst/>
          </a:prstGeom>
          <a:solidFill>
            <a:srgbClr val="FFFFFF"/>
          </a:solidFill>
          <a:ln w="6350">
            <a:solidFill>
              <a:srgbClr val="D0DBE8"/>
            </a:solidFill>
            <a:prstDash val="solid"/>
          </a:ln>
          <a:effectLst>
            <a:outerShdw sx="100000" sy="100000" kx="0" ky="0" algn="bl" rotWithShape="0" blurRad="101600" dist="38100" dir="8100000">
              <a:srgbClr val="000000">
                <a:alpha val="10000"/>
              </a:srgbClr>
            </a:outerShdw>
          </a:effectLst>
        </p:spPr>
      </p:sp>
      <p:sp>
        <p:nvSpPr>
          <p:cNvPr id="20" name="Shape 16"/>
          <p:cNvSpPr/>
          <p:nvPr/>
        </p:nvSpPr>
        <p:spPr>
          <a:xfrm>
            <a:off x="320040" y="2880360"/>
            <a:ext cx="4206240" cy="292608"/>
          </a:xfrm>
          <a:prstGeom prst="rect">
            <a:avLst/>
          </a:prstGeom>
          <a:solidFill>
            <a:srgbClr val="64748B"/>
          </a:solidFill>
          <a:ln/>
        </p:spPr>
      </p:sp>
      <p:pic>
        <p:nvPicPr>
          <p:cNvPr id="21" name="Image 2" descr="preencoded.png"/>
          <p:cNvPicPr>
            <a:picLocks noChangeAspect="1"/>
          </p:cNvPicPr>
          <p:nvPr/>
        </p:nvPicPr>
        <p:blipFill>
          <a:blip r:embed="rId3"/>
          <a:stretch>
            <a:fillRect/>
          </a:stretch>
        </p:blipFill>
        <p:spPr>
          <a:xfrm>
            <a:off x="411480" y="2916936"/>
            <a:ext cx="219456" cy="219456"/>
          </a:xfrm>
          <a:prstGeom prst="rect">
            <a:avLst/>
          </a:prstGeom>
        </p:spPr>
      </p:pic>
      <p:sp>
        <p:nvSpPr>
          <p:cNvPr id="22" name="Text 17"/>
          <p:cNvSpPr/>
          <p:nvPr/>
        </p:nvSpPr>
        <p:spPr>
          <a:xfrm>
            <a:off x="722376" y="2926080"/>
            <a:ext cx="3675888" cy="21945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Insecure Updates (STRETCH)</a:t>
            </a:r>
            <a:endParaRPr lang="en-US" sz="1000" dirty="0"/>
          </a:p>
        </p:txBody>
      </p:sp>
      <p:sp>
        <p:nvSpPr>
          <p:cNvPr id="23" name="Text 18"/>
          <p:cNvSpPr/>
          <p:nvPr/>
        </p:nvSpPr>
        <p:spPr>
          <a:xfrm>
            <a:off x="429768" y="3227832"/>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HTTP model downloads (no TLS)</a:t>
            </a:r>
            <a:endParaRPr lang="en-US" sz="950" dirty="0"/>
          </a:p>
        </p:txBody>
      </p:sp>
      <p:sp>
        <p:nvSpPr>
          <p:cNvPr id="24" name="Text 19"/>
          <p:cNvSpPr/>
          <p:nvPr/>
        </p:nvSpPr>
        <p:spPr>
          <a:xfrm>
            <a:off x="429768" y="3666744"/>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No delta-update signature verification</a:t>
            </a:r>
            <a:endParaRPr lang="en-US" sz="950" dirty="0"/>
          </a:p>
        </p:txBody>
      </p:sp>
      <p:sp>
        <p:nvSpPr>
          <p:cNvPr id="25" name="Text 20"/>
          <p:cNvSpPr/>
          <p:nvPr/>
        </p:nvSpPr>
        <p:spPr>
          <a:xfrm>
            <a:off x="429768" y="4105656"/>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MITM model-swap vector</a:t>
            </a:r>
            <a:endParaRPr lang="en-US" sz="950" dirty="0"/>
          </a:p>
        </p:txBody>
      </p:sp>
      <p:sp>
        <p:nvSpPr>
          <p:cNvPr id="26" name="Shape 21"/>
          <p:cNvSpPr/>
          <p:nvPr/>
        </p:nvSpPr>
        <p:spPr>
          <a:xfrm>
            <a:off x="4727448" y="2880360"/>
            <a:ext cx="4206240" cy="1783080"/>
          </a:xfrm>
          <a:prstGeom prst="rect">
            <a:avLst/>
          </a:prstGeom>
          <a:solidFill>
            <a:srgbClr val="FFFFFF"/>
          </a:solidFill>
          <a:ln w="6350">
            <a:solidFill>
              <a:srgbClr val="D0DBE8"/>
            </a:solidFill>
            <a:prstDash val="solid"/>
          </a:ln>
          <a:effectLst>
            <a:outerShdw sx="100000" sy="100000" kx="0" ky="0" algn="bl" rotWithShape="0" blurRad="101600" dist="38100" dir="8100000">
              <a:srgbClr val="000000">
                <a:alpha val="10000"/>
              </a:srgbClr>
            </a:outerShdw>
          </a:effectLst>
        </p:spPr>
      </p:sp>
      <p:sp>
        <p:nvSpPr>
          <p:cNvPr id="27" name="Shape 22"/>
          <p:cNvSpPr/>
          <p:nvPr/>
        </p:nvSpPr>
        <p:spPr>
          <a:xfrm>
            <a:off x="4727448" y="2880360"/>
            <a:ext cx="4206240" cy="292608"/>
          </a:xfrm>
          <a:prstGeom prst="rect">
            <a:avLst/>
          </a:prstGeom>
          <a:solidFill>
            <a:srgbClr val="64748B"/>
          </a:solidFill>
          <a:ln/>
        </p:spPr>
      </p:sp>
      <p:pic>
        <p:nvPicPr>
          <p:cNvPr id="28" name="Image 3" descr="preencoded.png"/>
          <p:cNvPicPr>
            <a:picLocks noChangeAspect="1"/>
          </p:cNvPicPr>
          <p:nvPr/>
        </p:nvPicPr>
        <p:blipFill>
          <a:blip r:embed="rId4"/>
          <a:stretch>
            <a:fillRect/>
          </a:stretch>
        </p:blipFill>
        <p:spPr>
          <a:xfrm>
            <a:off x="4818888" y="2916936"/>
            <a:ext cx="219456" cy="219456"/>
          </a:xfrm>
          <a:prstGeom prst="rect">
            <a:avLst/>
          </a:prstGeom>
        </p:spPr>
      </p:pic>
      <p:sp>
        <p:nvSpPr>
          <p:cNvPr id="29" name="Text 23"/>
          <p:cNvSpPr/>
          <p:nvPr/>
        </p:nvSpPr>
        <p:spPr>
          <a:xfrm>
            <a:off x="5129784" y="2926080"/>
            <a:ext cx="3675888" cy="21945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Data Handling (STRETCH)</a:t>
            </a:r>
            <a:endParaRPr lang="en-US" sz="1000" dirty="0"/>
          </a:p>
        </p:txBody>
      </p:sp>
      <p:sp>
        <p:nvSpPr>
          <p:cNvPr id="30" name="Text 24"/>
          <p:cNvSpPr/>
          <p:nvPr/>
        </p:nvSpPr>
        <p:spPr>
          <a:xfrm>
            <a:off x="4837176" y="3227832"/>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PII in world-readable training dirs</a:t>
            </a:r>
            <a:endParaRPr lang="en-US" sz="950" dirty="0"/>
          </a:p>
        </p:txBody>
      </p:sp>
      <p:sp>
        <p:nvSpPr>
          <p:cNvPr id="31" name="Text 25"/>
          <p:cNvSpPr/>
          <p:nvPr/>
        </p:nvSpPr>
        <p:spPr>
          <a:xfrm>
            <a:off x="4837176" y="3666744"/>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No input sanitization pre-inference</a:t>
            </a:r>
            <a:endParaRPr lang="en-US" sz="950" dirty="0"/>
          </a:p>
        </p:txBody>
      </p:sp>
      <p:sp>
        <p:nvSpPr>
          <p:cNvPr id="32" name="Text 26"/>
          <p:cNvSpPr/>
          <p:nvPr/>
        </p:nvSpPr>
        <p:spPr>
          <a:xfrm>
            <a:off x="4837176" y="4105656"/>
            <a:ext cx="3968496" cy="402336"/>
          </a:xfrm>
          <a:prstGeom prst="rect">
            <a:avLst/>
          </a:prstGeom>
          <a:noFill/>
          <a:ln/>
        </p:spPr>
        <p:txBody>
          <a:bodyPr wrap="square" lIns="0" tIns="0" rIns="0" bIns="0" rtlCol="0" anchor="ctr"/>
          <a:lstStyle/>
          <a:p>
            <a:pPr marL="342900" indent="-342900">
              <a:buSzPct val="100000"/>
              <a:buChar char="•"/>
            </a:pPr>
            <a:r>
              <a:rPr lang="en-US" sz="950" dirty="0">
                <a:solidFill>
                  <a:srgbClr val="64748B"/>
                </a:solidFill>
                <a:latin typeface="Calibri" pitchFamily="34" charset="0"/>
                <a:ea typeface="Calibri" pitchFamily="34" charset="-122"/>
                <a:cs typeface="Calibri" pitchFamily="34" charset="-120"/>
              </a:rPr>
              <a:t>Federated learning data exposure</a:t>
            </a:r>
            <a:endParaRPr lang="en-US" sz="950" dirty="0"/>
          </a:p>
        </p:txBody>
      </p:sp>
      <p:sp>
        <p:nvSpPr>
          <p:cNvPr id="33" name="Shape 27"/>
          <p:cNvSpPr/>
          <p:nvPr/>
        </p:nvSpPr>
        <p:spPr>
          <a:xfrm>
            <a:off x="320040" y="4754880"/>
            <a:ext cx="8503920" cy="292608"/>
          </a:xfrm>
          <a:prstGeom prst="rect">
            <a:avLst/>
          </a:prstGeom>
          <a:solidFill>
            <a:srgbClr val="0A1628"/>
          </a:solidFill>
          <a:ln/>
        </p:spPr>
      </p:sp>
      <p:sp>
        <p:nvSpPr>
          <p:cNvPr id="34" name="Text 28"/>
          <p:cNvSpPr/>
          <p:nvPr/>
        </p:nvSpPr>
        <p:spPr>
          <a:xfrm>
            <a:off x="457200" y="4773168"/>
            <a:ext cx="8229600" cy="256032"/>
          </a:xfrm>
          <a:prstGeom prst="rect">
            <a:avLst/>
          </a:prstGeom>
          <a:noFill/>
          <a:ln/>
        </p:spPr>
        <p:txBody>
          <a:bodyPr wrap="square" lIns="0" tIns="0" rIns="0" bIns="0" rtlCol="0" anchor="ctr"/>
          <a:lstStyle/>
          <a:p>
            <a:pPr indent="0" marL="0">
              <a:buNone/>
            </a:pPr>
            <a:r>
              <a:rPr lang="en-US" sz="950" b="1" dirty="0">
                <a:solidFill>
                  <a:srgbClr val="00C8E0"/>
                </a:solidFill>
                <a:latin typeface="Calibri" pitchFamily="34" charset="0"/>
                <a:ea typeface="Calibri" pitchFamily="34" charset="-122"/>
                <a:cs typeface="Calibri" pitchFamily="34" charset="-120"/>
              </a:rPr>
              <a:t xml:space="preserve">Metrics: </a:t>
            </a:r>
            <a:pPr indent="0" marL="0">
              <a:buNone/>
            </a:pPr>
            <a:r>
              <a:rPr lang="en-US" sz="950" dirty="0">
                <a:solidFill>
                  <a:srgbClr val="A0C8E8"/>
                </a:solidFill>
                <a:latin typeface="Calibri" pitchFamily="34" charset="0"/>
                <a:ea typeface="Calibri" pitchFamily="34" charset="-122"/>
                <a:cs typeface="Calibri" pitchFamily="34" charset="-120"/>
              </a:rPr>
              <a:t xml:space="preserve">Vuln count + severity (Critical/High/Med)  •  </a:t>
            </a:r>
            <a:pPr indent="0" marL="0">
              <a:buNone/>
            </a:pPr>
            <a:r>
              <a:rPr lang="en-US" sz="950" b="1" dirty="0">
                <a:solidFill>
                  <a:srgbClr val="00C8E0"/>
                </a:solidFill>
                <a:latin typeface="Calibri" pitchFamily="34" charset="0"/>
                <a:ea typeface="Calibri" pitchFamily="34" charset="-122"/>
                <a:cs typeface="Calibri" pitchFamily="34" charset="-120"/>
              </a:rPr>
              <a:t xml:space="preserve">MVD: </a:t>
            </a:r>
            <a:pPr indent="0" marL="0">
              <a:buNone/>
            </a:pPr>
            <a:r>
              <a:rPr lang="en-US" sz="950" dirty="0">
                <a:solidFill>
                  <a:srgbClr val="A0C8E8"/>
                </a:solidFill>
                <a:latin typeface="Calibri" pitchFamily="34" charset="0"/>
                <a:ea typeface="Calibri" pitchFamily="34" charset="-122"/>
                <a:cs typeface="Calibri" pitchFamily="34" charset="-120"/>
              </a:rPr>
              <a:t xml:space="preserve">Static report alone = complete deliverable  •  </a:t>
            </a:r>
            <a:pPr indent="0" marL="0">
              <a:buNone/>
            </a:pPr>
            <a:r>
              <a:rPr lang="en-US" sz="950" b="1" dirty="0">
                <a:solidFill>
                  <a:srgbClr val="00C8E0"/>
                </a:solidFill>
                <a:latin typeface="Calibri" pitchFamily="34" charset="0"/>
                <a:ea typeface="Calibri" pitchFamily="34" charset="-122"/>
                <a:cs typeface="Calibri" pitchFamily="34" charset="-120"/>
              </a:rPr>
              <a:t xml:space="preserve">Negative result: </a:t>
            </a:r>
            <a:pPr indent="0" marL="0">
              <a:buNone/>
            </a:pPr>
            <a:r>
              <a:rPr lang="en-US" sz="950" dirty="0">
                <a:solidFill>
                  <a:srgbClr val="A0C8E8"/>
                </a:solidFill>
                <a:latin typeface="Calibri" pitchFamily="34" charset="0"/>
                <a:ea typeface="Calibri" pitchFamily="34" charset="-122"/>
                <a:cs typeface="Calibri" pitchFamily="34" charset="-120"/>
              </a:rPr>
              <a:t>'Apps are secure' is a valid finding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sp>
      <p:sp>
        <p:nvSpPr>
          <p:cNvPr id="3" name="Text 1"/>
          <p:cNvSpPr/>
          <p:nvPr/>
        </p:nvSpPr>
        <p:spPr>
          <a:xfrm>
            <a:off x="365760" y="73152"/>
            <a:ext cx="8412480" cy="475488"/>
          </a:xfrm>
          <a:prstGeom prst="rect">
            <a:avLst/>
          </a:prstGeom>
          <a:noFill/>
          <a:ln/>
        </p:spPr>
        <p:txBody>
          <a:bodyPr wrap="square" lIns="0" tIns="0" rIns="0" bIns="0" rtlCol="0" anchor="ctr"/>
          <a:lstStyle/>
          <a:p>
            <a:pPr indent="0" marL="0">
              <a:buNone/>
            </a:pPr>
            <a:r>
              <a:rPr lang="en-US" sz="2000" b="1" dirty="0">
                <a:solidFill>
                  <a:srgbClr val="00C8E0"/>
                </a:solidFill>
                <a:latin typeface="Trebuchet MS" pitchFamily="34" charset="0"/>
                <a:ea typeface="Trebuchet MS" pitchFamily="34" charset="-122"/>
                <a:cs typeface="Trebuchet MS" pitchFamily="34" charset="-120"/>
              </a:rPr>
              <a:t>Realistic 8-Week Timeline with Contingency Planning</a:t>
            </a:r>
            <a:endParaRPr lang="en-US" sz="2000" dirty="0"/>
          </a:p>
        </p:txBody>
      </p:sp>
      <p:sp>
        <p:nvSpPr>
          <p:cNvPr id="4" name="Text 2"/>
          <p:cNvSpPr/>
          <p:nvPr/>
        </p:nvSpPr>
        <p:spPr>
          <a:xfrm>
            <a:off x="365760" y="566928"/>
            <a:ext cx="8412480" cy="292608"/>
          </a:xfrm>
          <a:prstGeom prst="rect">
            <a:avLst/>
          </a:prstGeom>
          <a:noFill/>
          <a:ln/>
        </p:spPr>
        <p:txBody>
          <a:bodyPr wrap="square" lIns="0" tIns="0" rIns="0" bIns="0" rtlCol="0" anchor="ctr"/>
          <a:lstStyle/>
          <a:p>
            <a:pPr indent="0" marL="0">
              <a:buNone/>
            </a:pPr>
            <a:r>
              <a:rPr lang="en-US" sz="1050" i="1" dirty="0">
                <a:solidFill>
                  <a:srgbClr val="0099B0"/>
                </a:solidFill>
                <a:latin typeface="Calibri" pitchFamily="34" charset="0"/>
                <a:ea typeface="Calibri" pitchFamily="34" charset="-122"/>
                <a:cs typeface="Calibri" pitchFamily="34" charset="-120"/>
              </a:rPr>
              <a:t>Includes toolchain pilot in Week 1, buffer days in each phase, and explicit fallback if dynamic analysis is limited</a:t>
            </a:r>
            <a:endParaRPr lang="en-US" sz="1050" dirty="0"/>
          </a:p>
        </p:txBody>
      </p:sp>
      <p:sp>
        <p:nvSpPr>
          <p:cNvPr id="5" name="Shape 3"/>
          <p:cNvSpPr/>
          <p:nvPr/>
        </p:nvSpPr>
        <p:spPr>
          <a:xfrm>
            <a:off x="2331720" y="1673352"/>
            <a:ext cx="182880" cy="45720"/>
          </a:xfrm>
          <a:prstGeom prst="rect">
            <a:avLst/>
          </a:prstGeom>
          <a:solidFill>
            <a:srgbClr val="CBD5E1"/>
          </a:solidFill>
          <a:ln/>
        </p:spPr>
      </p:sp>
      <p:sp>
        <p:nvSpPr>
          <p:cNvPr id="6" name="Shape 4"/>
          <p:cNvSpPr/>
          <p:nvPr/>
        </p:nvSpPr>
        <p:spPr>
          <a:xfrm>
            <a:off x="978408" y="1463040"/>
            <a:ext cx="566928" cy="566928"/>
          </a:xfrm>
          <a:prstGeom prst="ellipse">
            <a:avLst/>
          </a:prstGeom>
          <a:solidFill>
            <a:srgbClr val="0B72BD"/>
          </a:solidFill>
          <a:ln/>
        </p:spPr>
      </p:sp>
      <p:sp>
        <p:nvSpPr>
          <p:cNvPr id="7" name="Text 5"/>
          <p:cNvSpPr/>
          <p:nvPr/>
        </p:nvSpPr>
        <p:spPr>
          <a:xfrm>
            <a:off x="978408" y="14630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8" name="Shape 6"/>
          <p:cNvSpPr/>
          <p:nvPr/>
        </p:nvSpPr>
        <p:spPr>
          <a:xfrm>
            <a:off x="320040" y="2121408"/>
            <a:ext cx="2011680" cy="242316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2121408"/>
            <a:ext cx="2011680" cy="54864"/>
          </a:xfrm>
          <a:prstGeom prst="rect">
            <a:avLst/>
          </a:prstGeom>
          <a:solidFill>
            <a:srgbClr val="0B72BD"/>
          </a:solidFill>
          <a:ln/>
        </p:spPr>
      </p:sp>
      <p:sp>
        <p:nvSpPr>
          <p:cNvPr id="10" name="Text 8"/>
          <p:cNvSpPr/>
          <p:nvPr/>
        </p:nvSpPr>
        <p:spPr>
          <a:xfrm>
            <a:off x="320040" y="2194560"/>
            <a:ext cx="2011680" cy="237744"/>
          </a:xfrm>
          <a:prstGeom prst="rect">
            <a:avLst/>
          </a:prstGeom>
          <a:noFill/>
          <a:ln/>
        </p:spPr>
        <p:txBody>
          <a:bodyPr wrap="square" lIns="0" tIns="0" rIns="0" bIns="0" rtlCol="0" anchor="ctr"/>
          <a:lstStyle/>
          <a:p>
            <a:pPr algn="ctr" indent="0" marL="0">
              <a:buNone/>
            </a:pPr>
            <a:r>
              <a:rPr lang="en-US" sz="900" b="1" dirty="0">
                <a:solidFill>
                  <a:srgbClr val="0B72BD"/>
                </a:solidFill>
                <a:latin typeface="Trebuchet MS" pitchFamily="34" charset="0"/>
                <a:ea typeface="Trebuchet MS" pitchFamily="34" charset="-122"/>
                <a:cs typeface="Trebuchet MS" pitchFamily="34" charset="-120"/>
              </a:rPr>
              <a:t>Wk 1–2</a:t>
            </a:r>
            <a:endParaRPr lang="en-US" sz="900" dirty="0"/>
          </a:p>
        </p:txBody>
      </p:sp>
      <p:sp>
        <p:nvSpPr>
          <p:cNvPr id="11" name="Text 9"/>
          <p:cNvSpPr/>
          <p:nvPr/>
        </p:nvSpPr>
        <p:spPr>
          <a:xfrm>
            <a:off x="320040" y="2432304"/>
            <a:ext cx="2011680" cy="256032"/>
          </a:xfrm>
          <a:prstGeom prst="rect">
            <a:avLst/>
          </a:prstGeom>
          <a:noFill/>
          <a:ln/>
        </p:spPr>
        <p:txBody>
          <a:bodyPr wrap="square" lIns="0" tIns="0" rIns="0" bIns="0" rtlCol="0" anchor="ctr"/>
          <a:lstStyle/>
          <a:p>
            <a:pPr algn="ctr" indent="0" marL="0">
              <a:buNone/>
            </a:pPr>
            <a:r>
              <a:rPr lang="en-US" sz="1050" b="1" dirty="0">
                <a:solidFill>
                  <a:srgbClr val="1E2D40"/>
                </a:solidFill>
                <a:latin typeface="Trebuchet MS" pitchFamily="34" charset="0"/>
                <a:ea typeface="Trebuchet MS" pitchFamily="34" charset="-122"/>
                <a:cs typeface="Trebuchet MS" pitchFamily="34" charset="-120"/>
              </a:rPr>
              <a:t>Setup + Pilot</a:t>
            </a:r>
            <a:endParaRPr lang="en-US" sz="1050" dirty="0"/>
          </a:p>
        </p:txBody>
      </p:sp>
      <p:sp>
        <p:nvSpPr>
          <p:cNvPr id="12" name="Shape 10"/>
          <p:cNvSpPr/>
          <p:nvPr/>
        </p:nvSpPr>
        <p:spPr>
          <a:xfrm>
            <a:off x="429768" y="2706624"/>
            <a:ext cx="1792224" cy="36576"/>
          </a:xfrm>
          <a:prstGeom prst="rect">
            <a:avLst/>
          </a:prstGeom>
          <a:solidFill>
            <a:srgbClr val="D1E8F8"/>
          </a:solidFill>
          <a:ln/>
        </p:spPr>
      </p:sp>
      <p:sp>
        <p:nvSpPr>
          <p:cNvPr id="13" name="Text 11"/>
          <p:cNvSpPr/>
          <p:nvPr/>
        </p:nvSpPr>
        <p:spPr>
          <a:xfrm>
            <a:off x="411480" y="2788920"/>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Collect 30 ML APKs (targeted categories)</a:t>
            </a:r>
            <a:endParaRPr lang="en-US" sz="900" dirty="0"/>
          </a:p>
        </p:txBody>
      </p:sp>
      <p:sp>
        <p:nvSpPr>
          <p:cNvPr id="14" name="Text 12"/>
          <p:cNvSpPr/>
          <p:nvPr/>
        </p:nvSpPr>
        <p:spPr>
          <a:xfrm>
            <a:off x="411480" y="3264408"/>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 Pilot: decompile 3 apps, validate Soot runs</a:t>
            </a:r>
            <a:endParaRPr lang="en-US" sz="900" dirty="0"/>
          </a:p>
        </p:txBody>
      </p:sp>
      <p:sp>
        <p:nvSpPr>
          <p:cNvPr id="15" name="Text 13"/>
          <p:cNvSpPr/>
          <p:nvPr/>
        </p:nvSpPr>
        <p:spPr>
          <a:xfrm>
            <a:off x="411480" y="3739896"/>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Configure FlowDroid ML source/sink rules</a:t>
            </a:r>
            <a:endParaRPr lang="en-US" sz="900" dirty="0"/>
          </a:p>
        </p:txBody>
      </p:sp>
      <p:sp>
        <p:nvSpPr>
          <p:cNvPr id="16" name="Shape 14"/>
          <p:cNvSpPr/>
          <p:nvPr/>
        </p:nvSpPr>
        <p:spPr>
          <a:xfrm>
            <a:off x="320040" y="4544568"/>
            <a:ext cx="2011680" cy="438912"/>
          </a:xfrm>
          <a:prstGeom prst="rect">
            <a:avLst/>
          </a:prstGeom>
          <a:solidFill>
            <a:srgbClr val="FEF3C7"/>
          </a:solidFill>
          <a:ln w="6350">
            <a:solidFill>
              <a:srgbClr val="D97706"/>
            </a:solidFill>
            <a:prstDash val="solid"/>
          </a:ln>
        </p:spPr>
      </p:sp>
      <p:sp>
        <p:nvSpPr>
          <p:cNvPr id="17" name="Text 15"/>
          <p:cNvSpPr/>
          <p:nvPr/>
        </p:nvSpPr>
        <p:spPr>
          <a:xfrm>
            <a:off x="393192" y="4572000"/>
            <a:ext cx="1865376" cy="384048"/>
          </a:xfrm>
          <a:prstGeom prst="rect">
            <a:avLst/>
          </a:prstGeom>
          <a:noFill/>
          <a:ln/>
        </p:spPr>
        <p:txBody>
          <a:bodyPr wrap="square" lIns="0" tIns="0" rIns="0" bIns="0" rtlCol="0" anchor="ctr"/>
          <a:lstStyle/>
          <a:p>
            <a:pPr indent="0" marL="0">
              <a:buNone/>
            </a:pPr>
            <a:r>
              <a:rPr lang="en-US" sz="850" i="1" dirty="0">
                <a:solidFill>
                  <a:srgbClr val="92400E"/>
                </a:solidFill>
                <a:latin typeface="Calibri" pitchFamily="34" charset="0"/>
                <a:ea typeface="Calibri" pitchFamily="34" charset="-122"/>
                <a:cs typeface="Calibri" pitchFamily="34" charset="-120"/>
              </a:rPr>
              <a:t>If pilot shows toolchain issues → scope to 20 apps</a:t>
            </a:r>
            <a:endParaRPr lang="en-US" sz="850" dirty="0"/>
          </a:p>
        </p:txBody>
      </p:sp>
      <p:sp>
        <p:nvSpPr>
          <p:cNvPr id="18" name="Shape 16"/>
          <p:cNvSpPr/>
          <p:nvPr/>
        </p:nvSpPr>
        <p:spPr>
          <a:xfrm>
            <a:off x="4480560" y="1673352"/>
            <a:ext cx="182880" cy="45720"/>
          </a:xfrm>
          <a:prstGeom prst="rect">
            <a:avLst/>
          </a:prstGeom>
          <a:solidFill>
            <a:srgbClr val="CBD5E1"/>
          </a:solidFill>
          <a:ln/>
        </p:spPr>
      </p:sp>
      <p:sp>
        <p:nvSpPr>
          <p:cNvPr id="19" name="Shape 17"/>
          <p:cNvSpPr/>
          <p:nvPr/>
        </p:nvSpPr>
        <p:spPr>
          <a:xfrm>
            <a:off x="3127248" y="1463040"/>
            <a:ext cx="566928" cy="566928"/>
          </a:xfrm>
          <a:prstGeom prst="ellipse">
            <a:avLst/>
          </a:prstGeom>
          <a:solidFill>
            <a:srgbClr val="6D28D9"/>
          </a:solidFill>
          <a:ln/>
        </p:spPr>
      </p:sp>
      <p:sp>
        <p:nvSpPr>
          <p:cNvPr id="20" name="Text 18"/>
          <p:cNvSpPr/>
          <p:nvPr/>
        </p:nvSpPr>
        <p:spPr>
          <a:xfrm>
            <a:off x="3127248" y="14630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21" name="Shape 19"/>
          <p:cNvSpPr/>
          <p:nvPr/>
        </p:nvSpPr>
        <p:spPr>
          <a:xfrm>
            <a:off x="2468880" y="2121408"/>
            <a:ext cx="2011680" cy="242316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2468880" y="2121408"/>
            <a:ext cx="2011680" cy="54864"/>
          </a:xfrm>
          <a:prstGeom prst="rect">
            <a:avLst/>
          </a:prstGeom>
          <a:solidFill>
            <a:srgbClr val="6D28D9"/>
          </a:solidFill>
          <a:ln/>
        </p:spPr>
      </p:sp>
      <p:sp>
        <p:nvSpPr>
          <p:cNvPr id="23" name="Text 21"/>
          <p:cNvSpPr/>
          <p:nvPr/>
        </p:nvSpPr>
        <p:spPr>
          <a:xfrm>
            <a:off x="2468880" y="2194560"/>
            <a:ext cx="2011680" cy="237744"/>
          </a:xfrm>
          <a:prstGeom prst="rect">
            <a:avLst/>
          </a:prstGeom>
          <a:noFill/>
          <a:ln/>
        </p:spPr>
        <p:txBody>
          <a:bodyPr wrap="square" lIns="0" tIns="0" rIns="0" bIns="0" rtlCol="0" anchor="ctr"/>
          <a:lstStyle/>
          <a:p>
            <a:pPr algn="ctr" indent="0" marL="0">
              <a:buNone/>
            </a:pPr>
            <a:r>
              <a:rPr lang="en-US" sz="900" b="1" dirty="0">
                <a:solidFill>
                  <a:srgbClr val="6D28D9"/>
                </a:solidFill>
                <a:latin typeface="Trebuchet MS" pitchFamily="34" charset="0"/>
                <a:ea typeface="Trebuchet MS" pitchFamily="34" charset="-122"/>
                <a:cs typeface="Trebuchet MS" pitchFamily="34" charset="-120"/>
              </a:rPr>
              <a:t>Wk 3–4</a:t>
            </a:r>
            <a:endParaRPr lang="en-US" sz="900" dirty="0"/>
          </a:p>
        </p:txBody>
      </p:sp>
      <p:sp>
        <p:nvSpPr>
          <p:cNvPr id="24" name="Text 22"/>
          <p:cNvSpPr/>
          <p:nvPr/>
        </p:nvSpPr>
        <p:spPr>
          <a:xfrm>
            <a:off x="2468880" y="2432304"/>
            <a:ext cx="2011680" cy="256032"/>
          </a:xfrm>
          <a:prstGeom prst="rect">
            <a:avLst/>
          </a:prstGeom>
          <a:noFill/>
          <a:ln/>
        </p:spPr>
        <p:txBody>
          <a:bodyPr wrap="square" lIns="0" tIns="0" rIns="0" bIns="0" rtlCol="0" anchor="ctr"/>
          <a:lstStyle/>
          <a:p>
            <a:pPr algn="ctr" indent="0" marL="0">
              <a:buNone/>
            </a:pPr>
            <a:r>
              <a:rPr lang="en-US" sz="1050" b="1" dirty="0">
                <a:solidFill>
                  <a:srgbClr val="1E2D40"/>
                </a:solidFill>
                <a:latin typeface="Trebuchet MS" pitchFamily="34" charset="0"/>
                <a:ea typeface="Trebuchet MS" pitchFamily="34" charset="-122"/>
                <a:cs typeface="Trebuchet MS" pitchFamily="34" charset="-120"/>
              </a:rPr>
              <a:t>Static Analysis</a:t>
            </a:r>
            <a:endParaRPr lang="en-US" sz="1050" dirty="0"/>
          </a:p>
        </p:txBody>
      </p:sp>
      <p:sp>
        <p:nvSpPr>
          <p:cNvPr id="25" name="Shape 23"/>
          <p:cNvSpPr/>
          <p:nvPr/>
        </p:nvSpPr>
        <p:spPr>
          <a:xfrm>
            <a:off x="2578608" y="2706624"/>
            <a:ext cx="1792224" cy="36576"/>
          </a:xfrm>
          <a:prstGeom prst="rect">
            <a:avLst/>
          </a:prstGeom>
          <a:solidFill>
            <a:srgbClr val="D1E8F8"/>
          </a:solidFill>
          <a:ln/>
        </p:spPr>
      </p:sp>
      <p:sp>
        <p:nvSpPr>
          <p:cNvPr id="26" name="Text 24"/>
          <p:cNvSpPr/>
          <p:nvPr/>
        </p:nvSpPr>
        <p:spPr>
          <a:xfrm>
            <a:off x="2560320" y="2788920"/>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Run Soot transforms across full corpus</a:t>
            </a:r>
            <a:endParaRPr lang="en-US" sz="900" dirty="0"/>
          </a:p>
        </p:txBody>
      </p:sp>
      <p:sp>
        <p:nvSpPr>
          <p:cNvPr id="27" name="Text 25"/>
          <p:cNvSpPr/>
          <p:nvPr/>
        </p:nvSpPr>
        <p:spPr>
          <a:xfrm>
            <a:off x="2560320" y="3264408"/>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FlowDroid taint analysis pass</a:t>
            </a:r>
            <a:endParaRPr lang="en-US" sz="900" dirty="0"/>
          </a:p>
        </p:txBody>
      </p:sp>
      <p:sp>
        <p:nvSpPr>
          <p:cNvPr id="28" name="Text 26"/>
          <p:cNvSpPr/>
          <p:nvPr/>
        </p:nvSpPr>
        <p:spPr>
          <a:xfrm>
            <a:off x="2560320" y="3739896"/>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Catalog + severity-score all findings</a:t>
            </a:r>
            <a:endParaRPr lang="en-US" sz="900" dirty="0"/>
          </a:p>
        </p:txBody>
      </p:sp>
      <p:sp>
        <p:nvSpPr>
          <p:cNvPr id="29" name="Shape 27"/>
          <p:cNvSpPr/>
          <p:nvPr/>
        </p:nvSpPr>
        <p:spPr>
          <a:xfrm>
            <a:off x="2468880" y="4544568"/>
            <a:ext cx="2011680" cy="438912"/>
          </a:xfrm>
          <a:prstGeom prst="rect">
            <a:avLst/>
          </a:prstGeom>
          <a:solidFill>
            <a:srgbClr val="FEF3C7"/>
          </a:solidFill>
          <a:ln w="6350">
            <a:solidFill>
              <a:srgbClr val="D97706"/>
            </a:solidFill>
            <a:prstDash val="solid"/>
          </a:ln>
        </p:spPr>
      </p:sp>
      <p:sp>
        <p:nvSpPr>
          <p:cNvPr id="30" name="Text 28"/>
          <p:cNvSpPr/>
          <p:nvPr/>
        </p:nvSpPr>
        <p:spPr>
          <a:xfrm>
            <a:off x="2542032" y="4572000"/>
            <a:ext cx="1865376" cy="384048"/>
          </a:xfrm>
          <a:prstGeom prst="rect">
            <a:avLst/>
          </a:prstGeom>
          <a:noFill/>
          <a:ln/>
        </p:spPr>
        <p:txBody>
          <a:bodyPr wrap="square" lIns="0" tIns="0" rIns="0" bIns="0" rtlCol="0" anchor="ctr"/>
          <a:lstStyle/>
          <a:p>
            <a:pPr indent="0" marL="0">
              <a:buNone/>
            </a:pPr>
            <a:r>
              <a:rPr lang="en-US" sz="850" i="1" dirty="0">
                <a:solidFill>
                  <a:srgbClr val="92400E"/>
                </a:solidFill>
                <a:latin typeface="Calibri" pitchFamily="34" charset="0"/>
                <a:ea typeface="Calibri" pitchFamily="34" charset="-122"/>
                <a:cs typeface="Calibri" pitchFamily="34" charset="-120"/>
              </a:rPr>
              <a:t>Manual review for reflection-heavy cases</a:t>
            </a:r>
            <a:endParaRPr lang="en-US" sz="850" dirty="0"/>
          </a:p>
        </p:txBody>
      </p:sp>
      <p:sp>
        <p:nvSpPr>
          <p:cNvPr id="31" name="Shape 29"/>
          <p:cNvSpPr/>
          <p:nvPr/>
        </p:nvSpPr>
        <p:spPr>
          <a:xfrm>
            <a:off x="6629400" y="1673352"/>
            <a:ext cx="182880" cy="45720"/>
          </a:xfrm>
          <a:prstGeom prst="rect">
            <a:avLst/>
          </a:prstGeom>
          <a:solidFill>
            <a:srgbClr val="CBD5E1"/>
          </a:solidFill>
          <a:ln/>
        </p:spPr>
      </p:sp>
      <p:sp>
        <p:nvSpPr>
          <p:cNvPr id="32" name="Shape 30"/>
          <p:cNvSpPr/>
          <p:nvPr/>
        </p:nvSpPr>
        <p:spPr>
          <a:xfrm>
            <a:off x="5276088" y="1463040"/>
            <a:ext cx="566928" cy="566928"/>
          </a:xfrm>
          <a:prstGeom prst="ellipse">
            <a:avLst/>
          </a:prstGeom>
          <a:solidFill>
            <a:srgbClr val="DC2626"/>
          </a:solidFill>
          <a:ln/>
        </p:spPr>
      </p:sp>
      <p:sp>
        <p:nvSpPr>
          <p:cNvPr id="33" name="Text 31"/>
          <p:cNvSpPr/>
          <p:nvPr/>
        </p:nvSpPr>
        <p:spPr>
          <a:xfrm>
            <a:off x="5276088" y="14630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34" name="Shape 32"/>
          <p:cNvSpPr/>
          <p:nvPr/>
        </p:nvSpPr>
        <p:spPr>
          <a:xfrm>
            <a:off x="4617720" y="2121408"/>
            <a:ext cx="2011680" cy="242316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35" name="Shape 33"/>
          <p:cNvSpPr/>
          <p:nvPr/>
        </p:nvSpPr>
        <p:spPr>
          <a:xfrm>
            <a:off x="4617720" y="2121408"/>
            <a:ext cx="2011680" cy="54864"/>
          </a:xfrm>
          <a:prstGeom prst="rect">
            <a:avLst/>
          </a:prstGeom>
          <a:solidFill>
            <a:srgbClr val="DC2626"/>
          </a:solidFill>
          <a:ln/>
        </p:spPr>
      </p:sp>
      <p:sp>
        <p:nvSpPr>
          <p:cNvPr id="36" name="Text 34"/>
          <p:cNvSpPr/>
          <p:nvPr/>
        </p:nvSpPr>
        <p:spPr>
          <a:xfrm>
            <a:off x="4617720" y="2194560"/>
            <a:ext cx="2011680" cy="237744"/>
          </a:xfrm>
          <a:prstGeom prst="rect">
            <a:avLst/>
          </a:prstGeom>
          <a:noFill/>
          <a:ln/>
        </p:spPr>
        <p:txBody>
          <a:bodyPr wrap="square" lIns="0" tIns="0" rIns="0" bIns="0" rtlCol="0" anchor="ctr"/>
          <a:lstStyle/>
          <a:p>
            <a:pPr algn="ctr" indent="0" marL="0">
              <a:buNone/>
            </a:pPr>
            <a:r>
              <a:rPr lang="en-US" sz="900" b="1" dirty="0">
                <a:solidFill>
                  <a:srgbClr val="DC2626"/>
                </a:solidFill>
                <a:latin typeface="Trebuchet MS" pitchFamily="34" charset="0"/>
                <a:ea typeface="Trebuchet MS" pitchFamily="34" charset="-122"/>
                <a:cs typeface="Trebuchet MS" pitchFamily="34" charset="-120"/>
              </a:rPr>
              <a:t>Wk 5–6</a:t>
            </a:r>
            <a:endParaRPr lang="en-US" sz="900" dirty="0"/>
          </a:p>
        </p:txBody>
      </p:sp>
      <p:sp>
        <p:nvSpPr>
          <p:cNvPr id="37" name="Text 35"/>
          <p:cNvSpPr/>
          <p:nvPr/>
        </p:nvSpPr>
        <p:spPr>
          <a:xfrm>
            <a:off x="4617720" y="2432304"/>
            <a:ext cx="2011680" cy="256032"/>
          </a:xfrm>
          <a:prstGeom prst="rect">
            <a:avLst/>
          </a:prstGeom>
          <a:noFill/>
          <a:ln/>
        </p:spPr>
        <p:txBody>
          <a:bodyPr wrap="square" lIns="0" tIns="0" rIns="0" bIns="0" rtlCol="0" anchor="ctr"/>
          <a:lstStyle/>
          <a:p>
            <a:pPr algn="ctr" indent="0" marL="0">
              <a:buNone/>
            </a:pPr>
            <a:r>
              <a:rPr lang="en-US" sz="1050" b="1" dirty="0">
                <a:solidFill>
                  <a:srgbClr val="1E2D40"/>
                </a:solidFill>
                <a:latin typeface="Trebuchet MS" pitchFamily="34" charset="0"/>
                <a:ea typeface="Trebuchet MS" pitchFamily="34" charset="-122"/>
                <a:cs typeface="Trebuchet MS" pitchFamily="34" charset="-120"/>
              </a:rPr>
              <a:t>Dynamic Testing</a:t>
            </a:r>
            <a:endParaRPr lang="en-US" sz="1050" dirty="0"/>
          </a:p>
        </p:txBody>
      </p:sp>
      <p:sp>
        <p:nvSpPr>
          <p:cNvPr id="38" name="Shape 36"/>
          <p:cNvSpPr/>
          <p:nvPr/>
        </p:nvSpPr>
        <p:spPr>
          <a:xfrm>
            <a:off x="4727448" y="2706624"/>
            <a:ext cx="1792224" cy="36576"/>
          </a:xfrm>
          <a:prstGeom prst="rect">
            <a:avLst/>
          </a:prstGeom>
          <a:solidFill>
            <a:srgbClr val="D1E8F8"/>
          </a:solidFill>
          <a:ln/>
        </p:spPr>
      </p:sp>
      <p:sp>
        <p:nvSpPr>
          <p:cNvPr id="39" name="Text 37"/>
          <p:cNvSpPr/>
          <p:nvPr/>
        </p:nvSpPr>
        <p:spPr>
          <a:xfrm>
            <a:off x="4709160" y="2788920"/>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Frida hooks via APK repackaging</a:t>
            </a:r>
            <a:endParaRPr lang="en-US" sz="900" dirty="0"/>
          </a:p>
        </p:txBody>
      </p:sp>
      <p:sp>
        <p:nvSpPr>
          <p:cNvPr id="40" name="Text 38"/>
          <p:cNvSpPr/>
          <p:nvPr/>
        </p:nvSpPr>
        <p:spPr>
          <a:xfrm>
            <a:off x="4709160" y="3264408"/>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PoC exploit for top 2–3 confirmed vulns</a:t>
            </a:r>
            <a:endParaRPr lang="en-US" sz="900" dirty="0"/>
          </a:p>
        </p:txBody>
      </p:sp>
      <p:sp>
        <p:nvSpPr>
          <p:cNvPr id="41" name="Text 39"/>
          <p:cNvSpPr/>
          <p:nvPr/>
        </p:nvSpPr>
        <p:spPr>
          <a:xfrm>
            <a:off x="4709160" y="3739896"/>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Device-level verification in emulator</a:t>
            </a:r>
            <a:endParaRPr lang="en-US" sz="900" dirty="0"/>
          </a:p>
        </p:txBody>
      </p:sp>
      <p:sp>
        <p:nvSpPr>
          <p:cNvPr id="42" name="Shape 40"/>
          <p:cNvSpPr/>
          <p:nvPr/>
        </p:nvSpPr>
        <p:spPr>
          <a:xfrm>
            <a:off x="4617720" y="4544568"/>
            <a:ext cx="2011680" cy="438912"/>
          </a:xfrm>
          <a:prstGeom prst="rect">
            <a:avLst/>
          </a:prstGeom>
          <a:solidFill>
            <a:srgbClr val="FEF3C7"/>
          </a:solidFill>
          <a:ln w="6350">
            <a:solidFill>
              <a:srgbClr val="D97706"/>
            </a:solidFill>
            <a:prstDash val="solid"/>
          </a:ln>
        </p:spPr>
      </p:sp>
      <p:sp>
        <p:nvSpPr>
          <p:cNvPr id="43" name="Text 41"/>
          <p:cNvSpPr/>
          <p:nvPr/>
        </p:nvSpPr>
        <p:spPr>
          <a:xfrm>
            <a:off x="4690872" y="4572000"/>
            <a:ext cx="1865376" cy="384048"/>
          </a:xfrm>
          <a:prstGeom prst="rect">
            <a:avLst/>
          </a:prstGeom>
          <a:noFill/>
          <a:ln/>
        </p:spPr>
        <p:txBody>
          <a:bodyPr wrap="square" lIns="0" tIns="0" rIns="0" bIns="0" rtlCol="0" anchor="ctr"/>
          <a:lstStyle/>
          <a:p>
            <a:pPr indent="0" marL="0">
              <a:buNone/>
            </a:pPr>
            <a:r>
              <a:rPr lang="en-US" sz="850" i="1" dirty="0">
                <a:solidFill>
                  <a:srgbClr val="92400E"/>
                </a:solidFill>
                <a:latin typeface="Calibri" pitchFamily="34" charset="0"/>
                <a:ea typeface="Calibri" pitchFamily="34" charset="-122"/>
                <a:cs typeface="Calibri" pitchFamily="34" charset="-120"/>
              </a:rPr>
              <a:t>If dynamic limited → static report is MVD</a:t>
            </a:r>
            <a:endParaRPr lang="en-US" sz="850" dirty="0"/>
          </a:p>
        </p:txBody>
      </p:sp>
      <p:sp>
        <p:nvSpPr>
          <p:cNvPr id="44" name="Shape 42"/>
          <p:cNvSpPr/>
          <p:nvPr/>
        </p:nvSpPr>
        <p:spPr>
          <a:xfrm>
            <a:off x="7424928" y="1463040"/>
            <a:ext cx="566928" cy="566928"/>
          </a:xfrm>
          <a:prstGeom prst="ellipse">
            <a:avLst/>
          </a:prstGeom>
          <a:solidFill>
            <a:srgbClr val="059669"/>
          </a:solidFill>
          <a:ln/>
        </p:spPr>
      </p:sp>
      <p:sp>
        <p:nvSpPr>
          <p:cNvPr id="45" name="Text 43"/>
          <p:cNvSpPr/>
          <p:nvPr/>
        </p:nvSpPr>
        <p:spPr>
          <a:xfrm>
            <a:off x="7424928" y="14630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46" name="Shape 44"/>
          <p:cNvSpPr/>
          <p:nvPr/>
        </p:nvSpPr>
        <p:spPr>
          <a:xfrm>
            <a:off x="6766560" y="2121408"/>
            <a:ext cx="2011680" cy="2423160"/>
          </a:xfrm>
          <a:prstGeom prst="rect">
            <a:avLst/>
          </a:prstGeom>
          <a:solidFill>
            <a:srgbClr val="FFFFFF"/>
          </a:solidFill>
          <a:ln w="6350">
            <a:solidFill>
              <a:srgbClr val="D1E8F8"/>
            </a:solidFill>
            <a:prstDash val="solid"/>
          </a:ln>
          <a:effectLst>
            <a:outerShdw sx="100000" sy="100000" kx="0" ky="0" algn="bl" rotWithShape="0" blurRad="101600" dist="38100" dir="8100000">
              <a:srgbClr val="000000">
                <a:alpha val="10000"/>
              </a:srgbClr>
            </a:outerShdw>
          </a:effectLst>
        </p:spPr>
      </p:sp>
      <p:sp>
        <p:nvSpPr>
          <p:cNvPr id="47" name="Shape 45"/>
          <p:cNvSpPr/>
          <p:nvPr/>
        </p:nvSpPr>
        <p:spPr>
          <a:xfrm>
            <a:off x="6766560" y="2121408"/>
            <a:ext cx="2011680" cy="54864"/>
          </a:xfrm>
          <a:prstGeom prst="rect">
            <a:avLst/>
          </a:prstGeom>
          <a:solidFill>
            <a:srgbClr val="059669"/>
          </a:solidFill>
          <a:ln/>
        </p:spPr>
      </p:sp>
      <p:sp>
        <p:nvSpPr>
          <p:cNvPr id="48" name="Text 46"/>
          <p:cNvSpPr/>
          <p:nvPr/>
        </p:nvSpPr>
        <p:spPr>
          <a:xfrm>
            <a:off x="6766560" y="2194560"/>
            <a:ext cx="2011680" cy="237744"/>
          </a:xfrm>
          <a:prstGeom prst="rect">
            <a:avLst/>
          </a:prstGeom>
          <a:noFill/>
          <a:ln/>
        </p:spPr>
        <p:txBody>
          <a:bodyPr wrap="square" lIns="0" tIns="0" rIns="0" bIns="0" rtlCol="0" anchor="ctr"/>
          <a:lstStyle/>
          <a:p>
            <a:pPr algn="ctr" indent="0" marL="0">
              <a:buNone/>
            </a:pPr>
            <a:r>
              <a:rPr lang="en-US" sz="900" b="1" dirty="0">
                <a:solidFill>
                  <a:srgbClr val="059669"/>
                </a:solidFill>
                <a:latin typeface="Trebuchet MS" pitchFamily="34" charset="0"/>
                <a:ea typeface="Trebuchet MS" pitchFamily="34" charset="-122"/>
                <a:cs typeface="Trebuchet MS" pitchFamily="34" charset="-120"/>
              </a:rPr>
              <a:t>Wk 7–8</a:t>
            </a:r>
            <a:endParaRPr lang="en-US" sz="900" dirty="0"/>
          </a:p>
        </p:txBody>
      </p:sp>
      <p:sp>
        <p:nvSpPr>
          <p:cNvPr id="49" name="Text 47"/>
          <p:cNvSpPr/>
          <p:nvPr/>
        </p:nvSpPr>
        <p:spPr>
          <a:xfrm>
            <a:off x="6766560" y="2432304"/>
            <a:ext cx="2011680" cy="256032"/>
          </a:xfrm>
          <a:prstGeom prst="rect">
            <a:avLst/>
          </a:prstGeom>
          <a:noFill/>
          <a:ln/>
        </p:spPr>
        <p:txBody>
          <a:bodyPr wrap="square" lIns="0" tIns="0" rIns="0" bIns="0" rtlCol="0" anchor="ctr"/>
          <a:lstStyle/>
          <a:p>
            <a:pPr algn="ctr" indent="0" marL="0">
              <a:buNone/>
            </a:pPr>
            <a:r>
              <a:rPr lang="en-US" sz="1050" b="1" dirty="0">
                <a:solidFill>
                  <a:srgbClr val="1E2D40"/>
                </a:solidFill>
                <a:latin typeface="Trebuchet MS" pitchFamily="34" charset="0"/>
                <a:ea typeface="Trebuchet MS" pitchFamily="34" charset="-122"/>
                <a:cs typeface="Trebuchet MS" pitchFamily="34" charset="-120"/>
              </a:rPr>
              <a:t>Report + Defense</a:t>
            </a:r>
            <a:endParaRPr lang="en-US" sz="1050" dirty="0"/>
          </a:p>
        </p:txBody>
      </p:sp>
      <p:sp>
        <p:nvSpPr>
          <p:cNvPr id="50" name="Shape 48"/>
          <p:cNvSpPr/>
          <p:nvPr/>
        </p:nvSpPr>
        <p:spPr>
          <a:xfrm>
            <a:off x="6876288" y="2706624"/>
            <a:ext cx="1792224" cy="36576"/>
          </a:xfrm>
          <a:prstGeom prst="rect">
            <a:avLst/>
          </a:prstGeom>
          <a:solidFill>
            <a:srgbClr val="D1E8F8"/>
          </a:solidFill>
          <a:ln/>
        </p:spPr>
      </p:sp>
      <p:sp>
        <p:nvSpPr>
          <p:cNvPr id="51" name="Text 49"/>
          <p:cNvSpPr/>
          <p:nvPr/>
        </p:nvSpPr>
        <p:spPr>
          <a:xfrm>
            <a:off x="6858000" y="2788920"/>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Antidote applicability assessment</a:t>
            </a:r>
            <a:endParaRPr lang="en-US" sz="900" dirty="0"/>
          </a:p>
        </p:txBody>
      </p:sp>
      <p:sp>
        <p:nvSpPr>
          <p:cNvPr id="52" name="Text 50"/>
          <p:cNvSpPr/>
          <p:nvPr/>
        </p:nvSpPr>
        <p:spPr>
          <a:xfrm>
            <a:off x="6858000" y="3264408"/>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Final report with severity rubric</a:t>
            </a:r>
            <a:endParaRPr lang="en-US" sz="900" dirty="0"/>
          </a:p>
        </p:txBody>
      </p:sp>
      <p:sp>
        <p:nvSpPr>
          <p:cNvPr id="53" name="Text 51"/>
          <p:cNvSpPr/>
          <p:nvPr/>
        </p:nvSpPr>
        <p:spPr>
          <a:xfrm>
            <a:off x="6858000" y="3739896"/>
            <a:ext cx="1828800" cy="438912"/>
          </a:xfrm>
          <a:prstGeom prst="rect">
            <a:avLst/>
          </a:prstGeom>
          <a:noFill/>
          <a:ln/>
        </p:spPr>
        <p:txBody>
          <a:bodyPr wrap="square" lIns="0" tIns="0" rIns="0" bIns="0" rtlCol="0" anchor="ctr"/>
          <a:lstStyle/>
          <a:p>
            <a:pPr marL="342900" indent="-342900">
              <a:buSzPct val="100000"/>
              <a:buChar char="•"/>
            </a:pPr>
            <a:r>
              <a:rPr lang="en-US" sz="900" dirty="0">
                <a:solidFill>
                  <a:srgbClr val="3A5068"/>
                </a:solidFill>
                <a:latin typeface="Calibri" pitchFamily="34" charset="0"/>
                <a:ea typeface="Calibri" pitchFamily="34" charset="-122"/>
                <a:cs typeface="Calibri" pitchFamily="34" charset="-120"/>
              </a:rPr>
              <a:t>Slides, demo, responsible disclosure draft</a:t>
            </a:r>
            <a:endParaRPr lang="en-US" sz="900" dirty="0"/>
          </a:p>
        </p:txBody>
      </p:sp>
      <p:sp>
        <p:nvSpPr>
          <p:cNvPr id="54" name="Shape 52"/>
          <p:cNvSpPr/>
          <p:nvPr/>
        </p:nvSpPr>
        <p:spPr>
          <a:xfrm>
            <a:off x="6766560" y="4544568"/>
            <a:ext cx="2011680" cy="438912"/>
          </a:xfrm>
          <a:prstGeom prst="rect">
            <a:avLst/>
          </a:prstGeom>
          <a:solidFill>
            <a:srgbClr val="FEF3C7"/>
          </a:solidFill>
          <a:ln w="6350">
            <a:solidFill>
              <a:srgbClr val="D97706"/>
            </a:solidFill>
            <a:prstDash val="solid"/>
          </a:ln>
        </p:spPr>
      </p:sp>
      <p:sp>
        <p:nvSpPr>
          <p:cNvPr id="55" name="Text 53"/>
          <p:cNvSpPr/>
          <p:nvPr/>
        </p:nvSpPr>
        <p:spPr>
          <a:xfrm>
            <a:off x="6839712" y="4572000"/>
            <a:ext cx="1865376" cy="384048"/>
          </a:xfrm>
          <a:prstGeom prst="rect">
            <a:avLst/>
          </a:prstGeom>
          <a:noFill/>
          <a:ln/>
        </p:spPr>
        <p:txBody>
          <a:bodyPr wrap="square" lIns="0" tIns="0" rIns="0" bIns="0" rtlCol="0" anchor="ctr"/>
          <a:lstStyle/>
          <a:p>
            <a:pPr indent="0" marL="0">
              <a:buNone/>
            </a:pPr>
            <a:r>
              <a:rPr lang="en-US" sz="850" i="1" dirty="0">
                <a:solidFill>
                  <a:srgbClr val="92400E"/>
                </a:solidFill>
                <a:latin typeface="Calibri" pitchFamily="34" charset="0"/>
                <a:ea typeface="Calibri" pitchFamily="34" charset="-122"/>
                <a:cs typeface="Calibri" pitchFamily="34" charset="-120"/>
              </a:rPr>
              <a:t>Buffer: 2 extra days in Wk 8 for polish</a:t>
            </a:r>
            <a:endParaRPr lang="en-US" sz="850" dirty="0"/>
          </a:p>
        </p:txBody>
      </p:sp>
      <p:sp>
        <p:nvSpPr>
          <p:cNvPr id="56" name="Shape 54"/>
          <p:cNvSpPr/>
          <p:nvPr/>
        </p:nvSpPr>
        <p:spPr>
          <a:xfrm>
            <a:off x="320040" y="5001768"/>
            <a:ext cx="8503920" cy="64008"/>
          </a:xfrm>
          <a:prstGeom prst="rect">
            <a:avLst/>
          </a:prstGeom>
          <a:solidFill>
            <a:srgbClr val="00C8E0"/>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8E0"/>
          </a:solidFill>
          <a:ln/>
        </p:spPr>
      </p:sp>
      <p:sp>
        <p:nvSpPr>
          <p:cNvPr id="3" name="Shape 1"/>
          <p:cNvSpPr/>
          <p:nvPr/>
        </p:nvSpPr>
        <p:spPr>
          <a:xfrm>
            <a:off x="0" y="0"/>
            <a:ext cx="457200" cy="5143500"/>
          </a:xfrm>
          <a:prstGeom prst="rect">
            <a:avLst/>
          </a:prstGeom>
          <a:solidFill>
            <a:srgbClr val="112240"/>
          </a:solidFill>
          <a:ln/>
        </p:spPr>
      </p:sp>
      <p:sp>
        <p:nvSpPr>
          <p:cNvPr id="4" name="Text 2"/>
          <p:cNvSpPr/>
          <p:nvPr/>
        </p:nvSpPr>
        <p:spPr>
          <a:xfrm>
            <a:off x="640080" y="411480"/>
            <a:ext cx="8046720" cy="502920"/>
          </a:xfrm>
          <a:prstGeom prst="rect">
            <a:avLst/>
          </a:prstGeom>
          <a:noFill/>
          <a:ln/>
        </p:spPr>
        <p:txBody>
          <a:bodyPr wrap="square" lIns="0" tIns="0" rIns="0" bIns="0" rtlCol="0" anchor="ctr"/>
          <a:lstStyle/>
          <a:p>
            <a:pPr indent="0" marL="0">
              <a:buNone/>
            </a:pPr>
            <a:r>
              <a:rPr lang="en-US" sz="2400" b="1" dirty="0">
                <a:solidFill>
                  <a:srgbClr val="00C8E0"/>
                </a:solidFill>
                <a:latin typeface="Trebuchet MS" pitchFamily="34" charset="0"/>
                <a:ea typeface="Trebuchet MS" pitchFamily="34" charset="-122"/>
                <a:cs typeface="Trebuchet MS" pitchFamily="34" charset="-120"/>
              </a:rPr>
              <a:t>Why This Project Is Defensible</a:t>
            </a:r>
            <a:endParaRPr lang="en-US" sz="2400" dirty="0"/>
          </a:p>
        </p:txBody>
      </p:sp>
      <p:sp>
        <p:nvSpPr>
          <p:cNvPr id="5" name="Shape 3"/>
          <p:cNvSpPr/>
          <p:nvPr/>
        </p:nvSpPr>
        <p:spPr>
          <a:xfrm>
            <a:off x="640080" y="950976"/>
            <a:ext cx="5029200" cy="45720"/>
          </a:xfrm>
          <a:prstGeom prst="rect">
            <a:avLst/>
          </a:prstGeom>
          <a:solidFill>
            <a:srgbClr val="00C8E0"/>
          </a:solidFill>
          <a:ln/>
        </p:spPr>
      </p:sp>
      <p:sp>
        <p:nvSpPr>
          <p:cNvPr id="6" name="Shape 4"/>
          <p:cNvSpPr/>
          <p:nvPr/>
        </p:nvSpPr>
        <p:spPr>
          <a:xfrm>
            <a:off x="640080" y="1152144"/>
            <a:ext cx="365760" cy="365760"/>
          </a:xfrm>
          <a:prstGeom prst="ellipse">
            <a:avLst/>
          </a:prstGeom>
          <a:solidFill>
            <a:srgbClr val="00C8E0">
              <a:alpha val="80000"/>
            </a:srgbClr>
          </a:solidFill>
          <a:ln/>
        </p:spPr>
      </p:sp>
      <p:pic>
        <p:nvPicPr>
          <p:cNvPr id="7" name="Image 0" descr="preencoded.png"/>
          <p:cNvPicPr>
            <a:picLocks noChangeAspect="1"/>
          </p:cNvPicPr>
          <p:nvPr/>
        </p:nvPicPr>
        <p:blipFill>
          <a:blip r:embed="rId1"/>
          <a:stretch>
            <a:fillRect/>
          </a:stretch>
        </p:blipFill>
        <p:spPr>
          <a:xfrm>
            <a:off x="676656" y="1179576"/>
            <a:ext cx="292608" cy="292608"/>
          </a:xfrm>
          <a:prstGeom prst="rect">
            <a:avLst/>
          </a:prstGeom>
        </p:spPr>
      </p:pic>
      <p:sp>
        <p:nvSpPr>
          <p:cNvPr id="8" name="Text 5"/>
          <p:cNvSpPr/>
          <p:nvPr/>
        </p:nvSpPr>
        <p:spPr>
          <a:xfrm>
            <a:off x="1143000" y="1097280"/>
            <a:ext cx="7635240" cy="256032"/>
          </a:xfrm>
          <a:prstGeom prst="rect">
            <a:avLst/>
          </a:prstGeom>
          <a:noFill/>
          <a:ln/>
        </p:spPr>
        <p:txBody>
          <a:bodyPr wrap="square" lIns="0" tIns="0" rIns="0" bIns="0" rtlCol="0" anchor="ctr"/>
          <a:lstStyle/>
          <a:p>
            <a:pPr indent="0" marL="0">
              <a:buNone/>
            </a:pPr>
            <a:r>
              <a:rPr lang="en-US" sz="1150" b="1" dirty="0">
                <a:solidFill>
                  <a:srgbClr val="0099B0"/>
                </a:solidFill>
                <a:latin typeface="Trebuchet MS" pitchFamily="34" charset="0"/>
                <a:ea typeface="Trebuchet MS" pitchFamily="34" charset="-122"/>
                <a:cs typeface="Trebuchet MS" pitchFamily="34" charset="-120"/>
              </a:rPr>
              <a:t>Confirmed gap</a:t>
            </a:r>
            <a:endParaRPr lang="en-US" sz="1150" dirty="0"/>
          </a:p>
        </p:txBody>
      </p:sp>
      <p:sp>
        <p:nvSpPr>
          <p:cNvPr id="9" name="Text 6"/>
          <p:cNvSpPr/>
          <p:nvPr/>
        </p:nvSpPr>
        <p:spPr>
          <a:xfrm>
            <a:off x="1143000" y="1371600"/>
            <a:ext cx="7635240" cy="530352"/>
          </a:xfrm>
          <a:prstGeom prst="rect">
            <a:avLst/>
          </a:prstGeom>
          <a:noFill/>
          <a:ln/>
        </p:spPr>
        <p:txBody>
          <a:bodyPr wrap="square" lIns="0" tIns="0" rIns="0" bIns="0" rtlCol="0" anchor="ctr"/>
          <a:lstStyle/>
          <a:p>
            <a:pPr indent="0" marL="0">
              <a:buNone/>
            </a:pPr>
            <a:r>
              <a:rPr lang="en-US" sz="1050" dirty="0">
                <a:solidFill>
                  <a:srgbClr val="B0CBE0"/>
                </a:solidFill>
                <a:latin typeface="Calibri" pitchFamily="34" charset="0"/>
                <a:ea typeface="Calibri" pitchFamily="34" charset="-122"/>
                <a:cs typeface="Calibri" pitchFamily="34" charset="-120"/>
              </a:rPr>
              <a:t>Related work review shows no prior audit of ML components in Android apps — FlowDroid, TaintDroid, and survey literature all stop short of on-device ML pipelines</a:t>
            </a:r>
            <a:endParaRPr lang="en-US" sz="1050" dirty="0"/>
          </a:p>
        </p:txBody>
      </p:sp>
      <p:sp>
        <p:nvSpPr>
          <p:cNvPr id="10" name="Shape 7"/>
          <p:cNvSpPr/>
          <p:nvPr/>
        </p:nvSpPr>
        <p:spPr>
          <a:xfrm>
            <a:off x="640080" y="1901952"/>
            <a:ext cx="8092440" cy="36576"/>
          </a:xfrm>
          <a:prstGeom prst="rect">
            <a:avLst/>
          </a:prstGeom>
          <a:solidFill>
            <a:srgbClr val="1B3A5C"/>
          </a:solidFill>
          <a:ln/>
        </p:spPr>
      </p:sp>
      <p:sp>
        <p:nvSpPr>
          <p:cNvPr id="11" name="Shape 8"/>
          <p:cNvSpPr/>
          <p:nvPr/>
        </p:nvSpPr>
        <p:spPr>
          <a:xfrm>
            <a:off x="640080" y="2039112"/>
            <a:ext cx="365760" cy="365760"/>
          </a:xfrm>
          <a:prstGeom prst="ellipse">
            <a:avLst/>
          </a:prstGeom>
          <a:solidFill>
            <a:srgbClr val="00C8E0">
              <a:alpha val="80000"/>
            </a:srgbClr>
          </a:solidFill>
          <a:ln/>
        </p:spPr>
      </p:sp>
      <p:pic>
        <p:nvPicPr>
          <p:cNvPr id="12" name="Image 1" descr="preencoded.png"/>
          <p:cNvPicPr>
            <a:picLocks noChangeAspect="1"/>
          </p:cNvPicPr>
          <p:nvPr/>
        </p:nvPicPr>
        <p:blipFill>
          <a:blip r:embed="rId2"/>
          <a:stretch>
            <a:fillRect/>
          </a:stretch>
        </p:blipFill>
        <p:spPr>
          <a:xfrm>
            <a:off x="676656" y="2066544"/>
            <a:ext cx="292608" cy="292608"/>
          </a:xfrm>
          <a:prstGeom prst="rect">
            <a:avLst/>
          </a:prstGeom>
        </p:spPr>
      </p:pic>
      <p:sp>
        <p:nvSpPr>
          <p:cNvPr id="13" name="Text 9"/>
          <p:cNvSpPr/>
          <p:nvPr/>
        </p:nvSpPr>
        <p:spPr>
          <a:xfrm>
            <a:off x="1143000" y="1984248"/>
            <a:ext cx="7635240" cy="256032"/>
          </a:xfrm>
          <a:prstGeom prst="rect">
            <a:avLst/>
          </a:prstGeom>
          <a:noFill/>
          <a:ln/>
        </p:spPr>
        <p:txBody>
          <a:bodyPr wrap="square" lIns="0" tIns="0" rIns="0" bIns="0" rtlCol="0" anchor="ctr"/>
          <a:lstStyle/>
          <a:p>
            <a:pPr indent="0" marL="0">
              <a:buNone/>
            </a:pPr>
            <a:r>
              <a:rPr lang="en-US" sz="1150" b="1" dirty="0">
                <a:solidFill>
                  <a:srgbClr val="0099B0"/>
                </a:solidFill>
                <a:latin typeface="Trebuchet MS" pitchFamily="34" charset="0"/>
                <a:ea typeface="Trebuchet MS" pitchFamily="34" charset="-122"/>
                <a:cs typeface="Trebuchet MS" pitchFamily="34" charset="-120"/>
              </a:rPr>
              <a:t>Constraints acknowledged</a:t>
            </a:r>
            <a:endParaRPr lang="en-US" sz="1150" dirty="0"/>
          </a:p>
        </p:txBody>
      </p:sp>
      <p:sp>
        <p:nvSpPr>
          <p:cNvPr id="14" name="Text 10"/>
          <p:cNvSpPr/>
          <p:nvPr/>
        </p:nvSpPr>
        <p:spPr>
          <a:xfrm>
            <a:off x="1143000" y="2258568"/>
            <a:ext cx="7635240" cy="530352"/>
          </a:xfrm>
          <a:prstGeom prst="rect">
            <a:avLst/>
          </a:prstGeom>
          <a:noFill/>
          <a:ln/>
        </p:spPr>
        <p:txBody>
          <a:bodyPr wrap="square" lIns="0" tIns="0" rIns="0" bIns="0" rtlCol="0" anchor="ctr"/>
          <a:lstStyle/>
          <a:p>
            <a:pPr indent="0" marL="0">
              <a:buNone/>
            </a:pPr>
            <a:r>
              <a:rPr lang="en-US" sz="1050" dirty="0">
                <a:solidFill>
                  <a:srgbClr val="B0CBE0"/>
                </a:solidFill>
                <a:latin typeface="Calibri" pitchFamily="34" charset="0"/>
                <a:ea typeface="Calibri" pitchFamily="34" charset="-122"/>
                <a:cs typeface="Calibri" pitchFamily="34" charset="-120"/>
              </a:rPr>
              <a:t>Tool limitations (FlowDroid reflection, Frida repackaging cost) are addressed with manual fallback and realistic scope — not hidden from review</a:t>
            </a:r>
            <a:endParaRPr lang="en-US" sz="1050" dirty="0"/>
          </a:p>
        </p:txBody>
      </p:sp>
      <p:sp>
        <p:nvSpPr>
          <p:cNvPr id="15" name="Shape 11"/>
          <p:cNvSpPr/>
          <p:nvPr/>
        </p:nvSpPr>
        <p:spPr>
          <a:xfrm>
            <a:off x="640080" y="2788920"/>
            <a:ext cx="8092440" cy="36576"/>
          </a:xfrm>
          <a:prstGeom prst="rect">
            <a:avLst/>
          </a:prstGeom>
          <a:solidFill>
            <a:srgbClr val="1B3A5C"/>
          </a:solidFill>
          <a:ln/>
        </p:spPr>
      </p:sp>
      <p:sp>
        <p:nvSpPr>
          <p:cNvPr id="16" name="Shape 12"/>
          <p:cNvSpPr/>
          <p:nvPr/>
        </p:nvSpPr>
        <p:spPr>
          <a:xfrm>
            <a:off x="640080" y="2926080"/>
            <a:ext cx="365760" cy="365760"/>
          </a:xfrm>
          <a:prstGeom prst="ellipse">
            <a:avLst/>
          </a:prstGeom>
          <a:solidFill>
            <a:srgbClr val="00C8E0">
              <a:alpha val="80000"/>
            </a:srgbClr>
          </a:solidFill>
          <a:ln/>
        </p:spPr>
      </p:sp>
      <p:pic>
        <p:nvPicPr>
          <p:cNvPr id="17" name="Image 2" descr="preencoded.png"/>
          <p:cNvPicPr>
            <a:picLocks noChangeAspect="1"/>
          </p:cNvPicPr>
          <p:nvPr/>
        </p:nvPicPr>
        <p:blipFill>
          <a:blip r:embed="rId3"/>
          <a:stretch>
            <a:fillRect/>
          </a:stretch>
        </p:blipFill>
        <p:spPr>
          <a:xfrm>
            <a:off x="676656" y="2953512"/>
            <a:ext cx="292608" cy="292608"/>
          </a:xfrm>
          <a:prstGeom prst="rect">
            <a:avLst/>
          </a:prstGeom>
        </p:spPr>
      </p:pic>
      <p:sp>
        <p:nvSpPr>
          <p:cNvPr id="18" name="Text 13"/>
          <p:cNvSpPr/>
          <p:nvPr/>
        </p:nvSpPr>
        <p:spPr>
          <a:xfrm>
            <a:off x="1143000" y="2871216"/>
            <a:ext cx="7635240" cy="256032"/>
          </a:xfrm>
          <a:prstGeom prst="rect">
            <a:avLst/>
          </a:prstGeom>
          <a:noFill/>
          <a:ln/>
        </p:spPr>
        <p:txBody>
          <a:bodyPr wrap="square" lIns="0" tIns="0" rIns="0" bIns="0" rtlCol="0" anchor="ctr"/>
          <a:lstStyle/>
          <a:p>
            <a:pPr indent="0" marL="0">
              <a:buNone/>
            </a:pPr>
            <a:r>
              <a:rPr lang="en-US" sz="1150" b="1" dirty="0">
                <a:solidFill>
                  <a:srgbClr val="0099B0"/>
                </a:solidFill>
                <a:latin typeface="Trebuchet MS" pitchFamily="34" charset="0"/>
                <a:ea typeface="Trebuchet MS" pitchFamily="34" charset="-122"/>
                <a:cs typeface="Trebuchet MS" pitchFamily="34" charset="-120"/>
              </a:rPr>
              <a:t>Ethical framework in place</a:t>
            </a:r>
            <a:endParaRPr lang="en-US" sz="1150" dirty="0"/>
          </a:p>
        </p:txBody>
      </p:sp>
      <p:sp>
        <p:nvSpPr>
          <p:cNvPr id="19" name="Text 14"/>
          <p:cNvSpPr/>
          <p:nvPr/>
        </p:nvSpPr>
        <p:spPr>
          <a:xfrm>
            <a:off x="1143000" y="3145536"/>
            <a:ext cx="7635240" cy="530352"/>
          </a:xfrm>
          <a:prstGeom prst="rect">
            <a:avLst/>
          </a:prstGeom>
          <a:noFill/>
          <a:ln/>
        </p:spPr>
        <p:txBody>
          <a:bodyPr wrap="square" lIns="0" tIns="0" rIns="0" bIns="0" rtlCol="0" anchor="ctr"/>
          <a:lstStyle/>
          <a:p>
            <a:pPr indent="0" marL="0">
              <a:buNone/>
            </a:pPr>
            <a:r>
              <a:rPr lang="en-US" sz="1050" dirty="0">
                <a:solidFill>
                  <a:srgbClr val="B0CBE0"/>
                </a:solidFill>
                <a:latin typeface="Calibri" pitchFamily="34" charset="0"/>
                <a:ea typeface="Calibri" pitchFamily="34" charset="-122"/>
                <a:cs typeface="Calibri" pitchFamily="34" charset="-120"/>
              </a:rPr>
              <a:t>Static-only analysis, responsible disclosure commitment, CFAA-compliant methodology — this can be presented to any IRB or ethics review</a:t>
            </a:r>
            <a:endParaRPr lang="en-US" sz="1050" dirty="0"/>
          </a:p>
        </p:txBody>
      </p:sp>
      <p:sp>
        <p:nvSpPr>
          <p:cNvPr id="20" name="Shape 15"/>
          <p:cNvSpPr/>
          <p:nvPr/>
        </p:nvSpPr>
        <p:spPr>
          <a:xfrm>
            <a:off x="640080" y="3675888"/>
            <a:ext cx="8092440" cy="36576"/>
          </a:xfrm>
          <a:prstGeom prst="rect">
            <a:avLst/>
          </a:prstGeom>
          <a:solidFill>
            <a:srgbClr val="1B3A5C"/>
          </a:solidFill>
          <a:ln/>
        </p:spPr>
      </p:sp>
      <p:sp>
        <p:nvSpPr>
          <p:cNvPr id="21" name="Shape 16"/>
          <p:cNvSpPr/>
          <p:nvPr/>
        </p:nvSpPr>
        <p:spPr>
          <a:xfrm>
            <a:off x="640080" y="3813048"/>
            <a:ext cx="365760" cy="365760"/>
          </a:xfrm>
          <a:prstGeom prst="ellipse">
            <a:avLst/>
          </a:prstGeom>
          <a:solidFill>
            <a:srgbClr val="00C8E0">
              <a:alpha val="80000"/>
            </a:srgbClr>
          </a:solidFill>
          <a:ln/>
        </p:spPr>
      </p:sp>
      <p:pic>
        <p:nvPicPr>
          <p:cNvPr id="22" name="Image 3" descr="preencoded.png"/>
          <p:cNvPicPr>
            <a:picLocks noChangeAspect="1"/>
          </p:cNvPicPr>
          <p:nvPr/>
        </p:nvPicPr>
        <p:blipFill>
          <a:blip r:embed="rId4"/>
          <a:stretch>
            <a:fillRect/>
          </a:stretch>
        </p:blipFill>
        <p:spPr>
          <a:xfrm>
            <a:off x="676656" y="3840480"/>
            <a:ext cx="292608" cy="292608"/>
          </a:xfrm>
          <a:prstGeom prst="rect">
            <a:avLst/>
          </a:prstGeom>
        </p:spPr>
      </p:pic>
      <p:sp>
        <p:nvSpPr>
          <p:cNvPr id="23" name="Text 17"/>
          <p:cNvSpPr/>
          <p:nvPr/>
        </p:nvSpPr>
        <p:spPr>
          <a:xfrm>
            <a:off x="1143000" y="3758184"/>
            <a:ext cx="7635240" cy="256032"/>
          </a:xfrm>
          <a:prstGeom prst="rect">
            <a:avLst/>
          </a:prstGeom>
          <a:noFill/>
          <a:ln/>
        </p:spPr>
        <p:txBody>
          <a:bodyPr wrap="square" lIns="0" tIns="0" rIns="0" bIns="0" rtlCol="0" anchor="ctr"/>
          <a:lstStyle/>
          <a:p>
            <a:pPr indent="0" marL="0">
              <a:buNone/>
            </a:pPr>
            <a:r>
              <a:rPr lang="en-US" sz="1150" b="1" dirty="0">
                <a:solidFill>
                  <a:srgbClr val="0099B0"/>
                </a:solidFill>
                <a:latin typeface="Trebuchet MS" pitchFamily="34" charset="0"/>
                <a:ea typeface="Trebuchet MS" pitchFamily="34" charset="-122"/>
                <a:cs typeface="Trebuchet MS" pitchFamily="34" charset="-120"/>
              </a:rPr>
              <a:t>Robust success criteria</a:t>
            </a:r>
            <a:endParaRPr lang="en-US" sz="1150" dirty="0"/>
          </a:p>
        </p:txBody>
      </p:sp>
      <p:sp>
        <p:nvSpPr>
          <p:cNvPr id="24" name="Text 18"/>
          <p:cNvSpPr/>
          <p:nvPr/>
        </p:nvSpPr>
        <p:spPr>
          <a:xfrm>
            <a:off x="1143000" y="4032504"/>
            <a:ext cx="7635240" cy="530352"/>
          </a:xfrm>
          <a:prstGeom prst="rect">
            <a:avLst/>
          </a:prstGeom>
          <a:noFill/>
          <a:ln/>
        </p:spPr>
        <p:txBody>
          <a:bodyPr wrap="square" lIns="0" tIns="0" rIns="0" bIns="0" rtlCol="0" anchor="ctr"/>
          <a:lstStyle/>
          <a:p>
            <a:pPr indent="0" marL="0">
              <a:buNone/>
            </a:pPr>
            <a:r>
              <a:rPr lang="en-US" sz="1050" dirty="0">
                <a:solidFill>
                  <a:srgbClr val="B0CBE0"/>
                </a:solidFill>
                <a:latin typeface="Calibri" pitchFamily="34" charset="0"/>
                <a:ea typeface="Calibri" pitchFamily="34" charset="-122"/>
                <a:cs typeface="Calibri" pitchFamily="34" charset="-120"/>
              </a:rPr>
              <a:t>Primary RQs (poisoning surfaces + model exposure) are the MVD. Negative results are framed as a valid security posture finding, not a project failure</a:t>
            </a:r>
            <a:endParaRPr lang="en-US" sz="1050" dirty="0"/>
          </a:p>
        </p:txBody>
      </p:sp>
      <p:sp>
        <p:nvSpPr>
          <p:cNvPr id="25" name="Shape 19"/>
          <p:cNvSpPr/>
          <p:nvPr/>
        </p:nvSpPr>
        <p:spPr>
          <a:xfrm>
            <a:off x="640080" y="4645152"/>
            <a:ext cx="8092440" cy="347472"/>
          </a:xfrm>
          <a:prstGeom prst="rect">
            <a:avLst/>
          </a:prstGeom>
          <a:solidFill>
            <a:srgbClr val="0B72BD"/>
          </a:solidFill>
          <a:ln/>
        </p:spPr>
      </p:sp>
      <p:sp>
        <p:nvSpPr>
          <p:cNvPr id="26" name="Text 20"/>
          <p:cNvSpPr/>
          <p:nvPr/>
        </p:nvSpPr>
        <p:spPr>
          <a:xfrm>
            <a:off x="640080" y="4645152"/>
            <a:ext cx="80924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Attack → Understand → Defend → Assess: A complete, rigorous ML security arc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Analysis of ML-Powered Android Apps — v2</dc:title>
  <dc:subject>PptxGenJS Presentation</dc:subject>
  <dc:creator>PptxGenJS</dc:creator>
  <cp:lastModifiedBy>PptxGenJS</cp:lastModifiedBy>
  <cp:revision>1</cp:revision>
  <dcterms:created xsi:type="dcterms:W3CDTF">2026-03-21T03:27:15Z</dcterms:created>
  <dcterms:modified xsi:type="dcterms:W3CDTF">2026-03-21T03:27:15Z</dcterms:modified>
</cp:coreProperties>
</file>