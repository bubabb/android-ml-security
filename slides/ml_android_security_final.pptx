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A1F3A"/>
                </a:solidFill>
              </a:rPr>
              <a:t>Smali scan coverage per app (% of files scanned under 5,000-file cap)</a:t>
            </a:r>
          </a:p>
        </c:rich>
      </c:tx>
      <c:layout/>
      <c:overlay val="0"/>
    </c:title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Smali coverage (%)</c:v>
                </c:pt>
              </c:strCache>
            </c:strRef>
          </c:tx>
          <c:dPt>
            <c:idx val="0"/>
            <c:spPr>
              <a:solidFill>
                <a:srgbClr val="E63946"/>
              </a:solidFill>
              <a:ln>
                <a:noFill/>
              </a:ln>
            </c:spPr>
          </c:dPt>
          <c:dPt>
            <c:idx val="1"/>
            <c:spPr>
              <a:solidFill>
                <a:srgbClr val="E63946"/>
              </a:solidFill>
              <a:ln>
                <a:noFill/>
              </a:ln>
            </c:spPr>
          </c:dPt>
          <c:dPt>
            <c:idx val="2"/>
            <c:spPr>
              <a:solidFill>
                <a:srgbClr val="F4A261"/>
              </a:solidFill>
              <a:ln>
                <a:noFill/>
              </a:ln>
            </c:spPr>
          </c:dPt>
          <c:dPt>
            <c:idx val="3"/>
            <c:spPr>
              <a:solidFill>
                <a:srgbClr val="F4A261"/>
              </a:solidFill>
              <a:ln>
                <a:noFill/>
              </a:ln>
            </c:spPr>
          </c:dPt>
          <c:dPt>
            <c:idx val="4"/>
            <c:spPr>
              <a:solidFill>
                <a:srgbClr val="4A8C4A"/>
              </a:solidFill>
              <a:ln>
                <a:noFill/>
              </a:ln>
            </c:spPr>
          </c:dPt>
          <c:cat>
            <c:strRef>
              <c:f>Sheet1!$A$2:$A$6</c:f>
              <c:strCache>
                <c:ptCount val="5"/>
                <c:pt idx="0">
                  <c:v>nextcloud</c:v>
                </c:pt>
                <c:pt idx="1">
                  <c:v>fennec</c:v>
                </c:pt>
                <c:pt idx="2">
                  <c:v>fdroid</c:v>
                </c:pt>
                <c:pt idx="3">
                  <c:v>newpipe</c:v>
                </c:pt>
                <c:pt idx="4">
                  <c:v>aves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10.7</c:v>
                </c:pt>
                <c:pt idx="1">
                  <c:v>15.0</c:v>
                </c:pt>
                <c:pt idx="2">
                  <c:v>25.4</c:v>
                </c:pt>
                <c:pt idx="3">
                  <c:v>58.5</c:v>
                </c:pt>
                <c:pt idx="4">
                  <c:v>74.7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>
                  <a:solidFill>
                    <a:srgbClr val="0A1F3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A1F3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55B6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015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</a:rPr>
              <a:t>CS 6491 · SOFTWARE &amp; SYSTEMS SECURITY ·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6015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Security Analysis of ML-Powered Android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60152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 i="1">
                <a:solidFill>
                  <a:srgbClr val="B0C4DE"/>
                </a:solidFill>
              </a:rPr>
              <a:t>A static-analysis pipeline for auditing the Truth-Serum training-surface precondition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601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Bruna Vasconcelos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1036015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University of Utah   · 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Motivation &amp;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91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Truth Serum (Tramèr et al., CCS 2022) — poisoning that amplifies membership inference. Precondition maps onto mobile 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</a:rPr>
              <a:t>THE TRUTH SERUM ATTACK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280160" cy="10972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74520"/>
            <a:ext cx="1133856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Attacker contributes
poisoned training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01952" y="1417320"/>
            <a:ext cx="1280160" cy="1097280"/>
          </a:xfrm>
          <a:prstGeom prst="roundRect">
            <a:avLst/>
          </a:prstGeom>
          <a:solidFill>
            <a:srgbClr val="26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1952" y="149047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1874520"/>
            <a:ext cx="1133856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Model trains on
poisoned + real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55264" y="1417320"/>
            <a:ext cx="1280160" cy="109728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5264" y="149047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1874520"/>
            <a:ext cx="1133856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Targets show
elevated training loss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08576" y="1417320"/>
            <a:ext cx="1280160" cy="109728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149047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1874520"/>
            <a:ext cx="1133856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Adversary queries →
extracts real-data secrets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5176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B66"/>
                </a:solidFill>
              </a:rPr>
              <a:t>Precondition: attacker can contribute training data. No root, no network intercept, no code exec needed.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005840"/>
            <a:ext cx="5120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</a:rPr>
              <a:t>ON-DEVICE ML MAKES THIS EASY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1417320"/>
            <a:ext cx="5120640" cy="393192"/>
          </a:xfrm>
          <a:prstGeom prst="round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463040"/>
            <a:ext cx="164592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A1F3A"/>
                </a:solidFill>
              </a:rPr>
              <a:t>Keyboards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490472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User input CAN feed into on-device personalisation or federated learning (e.g., GBoard).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1874520"/>
            <a:ext cx="5120640" cy="393192"/>
          </a:xfrm>
          <a:prstGeom prst="round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1920240"/>
            <a:ext cx="164592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A1F3A"/>
                </a:solidFill>
              </a:rPr>
              <a:t>Translation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1947672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Offline TFLite models; user corrections CAN update local weights (e.g., Pixel on-device translate).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2331720"/>
            <a:ext cx="5120640" cy="393192"/>
          </a:xfrm>
          <a:prstGeom prst="round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2377440"/>
            <a:ext cx="164592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0A1F3A"/>
                </a:solidFill>
              </a:rPr>
              <a:t>Camera filters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404872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On-device classification on PII; adaptation loops are possible — which is the audit question.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754880"/>
            <a:ext cx="11091672" cy="1371600"/>
          </a:xfrm>
          <a:prstGeom prst="round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8463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</a:rPr>
              <a:t>RESEARCH QUESTION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1206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Does the Truth-Serum training-surface precondition exist in real Android apps?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577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And can we detect it with static analysis alone — no rooting, no instrumentation, no user interaction?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3112" y="6537960"/>
            <a:ext cx="8229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</a:rPr>
              <a:t>2 / 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Bruna Vasconcelos  •  CS 6491 Final Project  •  Spring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Related Work &amp;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91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Two dimensions already measured at scale — training surface is the one left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2761488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2761488" cy="219456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2761488" cy="73152"/>
          </a:xfrm>
          <a:prstGeom prst="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89304"/>
            <a:ext cx="243230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A1F3A"/>
                </a:solidFill>
              </a:rPr>
              <a:t>FlowDroid (PLDI '14)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2432304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Scope:</a:t>
            </a:r>
            <a:r>
              <a:rPr sz="1000">
                <a:solidFill>
                  <a:srgbClr val="555B66"/>
                </a:solidFill>
              </a:rPr>
              <a:t> Android taint analysis — user data to network sinks.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Gap:</a:t>
            </a:r>
            <a:r>
              <a:rPr sz="1000">
                <a:solidFill>
                  <a:srgbClr val="555B66"/>
                </a:solidFill>
              </a:rPr>
              <a:t> No ML-specific sources or sinks. TFLite is invisible.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Relation:</a:t>
            </a:r>
            <a:r>
              <a:rPr sz="1000">
                <a:solidFill>
                  <a:srgbClr val="555B66"/>
                </a:solidFill>
              </a:rPr>
              <a:t> Predates on-device ML entirely.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143000"/>
            <a:ext cx="2761488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9856" y="1143000"/>
            <a:ext cx="2761488" cy="219456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9856" y="1143000"/>
            <a:ext cx="2761488" cy="73152"/>
          </a:xfrm>
          <a:prstGeom prst="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289304"/>
            <a:ext cx="243230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A1F3A"/>
                </a:solidFill>
              </a:rPr>
              <a:t>TaintDroid (OSDI '10)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1645920"/>
            <a:ext cx="2432304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Scope:</a:t>
            </a:r>
            <a:r>
              <a:rPr sz="1000">
                <a:solidFill>
                  <a:srgbClr val="555B66"/>
                </a:solidFill>
              </a:rPr>
              <a:t> OS-level dynamic taint tracking for PII.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Gap:</a:t>
            </a:r>
            <a:r>
              <a:rPr sz="1000">
                <a:solidFill>
                  <a:srgbClr val="555B66"/>
                </a:solidFill>
              </a:rPr>
              <a:t> Older still. No awareness of ML inference or training.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Relation:</a:t>
            </a:r>
            <a:r>
              <a:rPr sz="1000">
                <a:solidFill>
                  <a:srgbClr val="555B66"/>
                </a:solidFill>
              </a:rPr>
              <a:t> Complementary; different granularity.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143000"/>
            <a:ext cx="2761488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1072" y="1143000"/>
            <a:ext cx="2761488" cy="219456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1143000"/>
            <a:ext cx="2761488" cy="73152"/>
          </a:xfrm>
          <a:prstGeom prst="rect">
            <a:avLst/>
          </a:prstGeom>
          <a:solidFill>
            <a:srgbClr val="26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289304"/>
            <a:ext cx="243230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A1F3A"/>
                </a:solidFill>
              </a:rPr>
              <a:t>Xu et al. (WWW '19)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1645920"/>
            <a:ext cx="2432304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Scope:</a:t>
            </a:r>
            <a:r>
              <a:rPr sz="1000">
                <a:solidFill>
                  <a:srgbClr val="555B66"/>
                </a:solidFill>
              </a:rPr>
              <a:t> First empirical study — 16,500 Play Store apps.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Measures:</a:t>
            </a:r>
            <a:r>
              <a:rPr sz="1000">
                <a:solidFill>
                  <a:srgbClr val="555B66"/>
                </a:solidFill>
              </a:rPr>
              <a:t> Presence of DL apps, frameworks used.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Gap:</a:t>
            </a:r>
            <a:r>
              <a:rPr sz="1000">
                <a:solidFill>
                  <a:srgbClr val="555B66"/>
                </a:solidFill>
              </a:rPr>
              <a:t> Presence ≠ training-surface exposure.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1143000"/>
            <a:ext cx="2761488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62288" y="1143000"/>
            <a:ext cx="2761488" cy="219456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62288" y="1143000"/>
            <a:ext cx="2761488" cy="73152"/>
          </a:xfrm>
          <a:prstGeom prst="rect">
            <a:avLst/>
          </a:prstGeom>
          <a:solidFill>
            <a:srgbClr val="26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289304"/>
            <a:ext cx="243230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A1F3A"/>
                </a:solidFill>
              </a:rPr>
              <a:t>Sun et al. (USENIX '21) — ModelXRay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645920"/>
            <a:ext cx="2432304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Scope:</a:t>
            </a:r>
            <a:r>
              <a:rPr sz="1000">
                <a:solidFill>
                  <a:srgbClr val="555B66"/>
                </a:solidFill>
              </a:rPr>
              <a:t> Large-scale model-protection study.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Finding:</a:t>
            </a:r>
            <a:r>
              <a:rPr sz="1000">
                <a:solidFill>
                  <a:srgbClr val="555B66"/>
                </a:solidFill>
              </a:rPr>
              <a:t> 41% unprotected; 66% of protected still extractable.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Gap:</a:t>
            </a:r>
            <a:r>
              <a:rPr sz="1000">
                <a:solidFill>
                  <a:srgbClr val="555B66"/>
                </a:solidFill>
              </a:rPr>
              <a:t> Extraction ≠ training-surface.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657600"/>
            <a:ext cx="11091672" cy="2377440"/>
          </a:xfrm>
          <a:prstGeom prst="round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794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</a:rPr>
              <a:t>THE GAP THIS WORK TARGETS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0690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None of these tools enforces the Truth-Serum precondition — whether user input flows into on-device training.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66344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Presence of 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98348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B0C4DE"/>
                </a:solidFill>
              </a:rPr>
              <a:t>Xu '19  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466344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 protection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98348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B0C4DE"/>
                </a:solidFill>
              </a:rPr>
              <a:t>Sun '21  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466344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Training surface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98348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9C46A"/>
                </a:solidFill>
              </a:rPr>
              <a:t>This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6692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This work complements Xu and Sun rather than competing with them — orthogonal audit dimension.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6537960"/>
            <a:ext cx="8229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</a:rPr>
              <a:t>3 /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Bruna Vasconcelos  •  CS 6491 Final Project  •  Spring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Threat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91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Precise adversary capabilities, defender constraints, and what is out of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2761488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2761488" cy="502920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2761488" cy="7315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289304"/>
            <a:ext cx="243230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A1F3A"/>
                </a:solidFill>
              </a:rPr>
              <a:t>Adversary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45920"/>
            <a:ext cx="2432304" cy="4434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Role:</a:t>
            </a:r>
            <a:r>
              <a:rPr sz="1000">
                <a:solidFill>
                  <a:srgbClr val="555B66"/>
                </a:solidFill>
              </a:rPr>
              <a:t> Malicious training-data contributor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Capability:</a:t>
            </a:r>
            <a:r>
              <a:rPr sz="1000">
                <a:solidFill>
                  <a:srgbClr val="555B66"/>
                </a:solidFill>
              </a:rPr>
              <a:t> Influences data ingested by on-device training, personalisation, or federated-learning loop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Does NOT need:</a:t>
            </a:r>
            <a:r>
              <a:rPr sz="1000">
                <a:solidFill>
                  <a:srgbClr val="555B66"/>
                </a:solidFill>
              </a:rPr>
              <a:t> Code execution on the device, root, or network-level interception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Example:</a:t>
            </a:r>
            <a:r>
              <a:rPr sz="1000">
                <a:solidFill>
                  <a:srgbClr val="555B66"/>
                </a:solidFill>
              </a:rPr>
              <a:t> A Truth-Serum-style poisoned input delivered through the normal data-collection channel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143000"/>
            <a:ext cx="2761488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9856" y="1143000"/>
            <a:ext cx="2761488" cy="502920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9856" y="1143000"/>
            <a:ext cx="2761488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289304"/>
            <a:ext cx="243230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A1F3A"/>
                </a:solidFill>
              </a:rPr>
              <a:t>Defender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1645920"/>
            <a:ext cx="2432304" cy="4434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Role:</a:t>
            </a:r>
            <a:r>
              <a:rPr sz="1000">
                <a:solidFill>
                  <a:srgbClr val="555B66"/>
                </a:solidFill>
              </a:rPr>
              <a:t> App auditor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Access:</a:t>
            </a:r>
            <a:r>
              <a:rPr sz="1000">
                <a:solidFill>
                  <a:srgbClr val="555B66"/>
                </a:solidFill>
              </a:rPr>
              <a:t> Publicly distributed APK only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Constraint:</a:t>
            </a:r>
            <a:r>
              <a:rPr sz="1000">
                <a:solidFill>
                  <a:srgbClr val="555B66"/>
                </a:solidFill>
              </a:rPr>
              <a:t> No running instance, no backend, no runtime instrumentation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Method:</a:t>
            </a:r>
            <a:r>
              <a:rPr sz="1000">
                <a:solidFill>
                  <a:srgbClr val="555B66"/>
                </a:solidFill>
              </a:rPr>
              <a:t> Static analysis only (matches ModelXRay and FlowDroid setting)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143000"/>
            <a:ext cx="2761488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1072" y="1143000"/>
            <a:ext cx="2761488" cy="502920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1143000"/>
            <a:ext cx="2761488" cy="7315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289304"/>
            <a:ext cx="243230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A1F3A"/>
                </a:solidFill>
              </a:rPr>
              <a:t>Assets at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1645920"/>
            <a:ext cx="2432304" cy="4434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Model weights:</a:t>
            </a:r>
            <a:r>
              <a:rPr sz="1000">
                <a:solidFill>
                  <a:srgbClr val="555B66"/>
                </a:solidFill>
              </a:rPr>
              <a:t> Integrity (poisoning) and confidentiality (extraction)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Training pipeline:</a:t>
            </a:r>
            <a:r>
              <a:rPr sz="1000">
                <a:solidFill>
                  <a:srgbClr val="555B66"/>
                </a:solidFill>
              </a:rPr>
              <a:t> Integrity — no adversarial input filtering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User PII:</a:t>
            </a:r>
            <a:r>
              <a:rPr sz="1000">
                <a:solidFill>
                  <a:srgbClr val="555B66"/>
                </a:solidFill>
              </a:rPr>
              <a:t> Routed through inference / training loops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Severity driver:</a:t>
            </a:r>
            <a:r>
              <a:rPr sz="1000">
                <a:solidFill>
                  <a:srgbClr val="555B66"/>
                </a:solidFill>
              </a:rPr>
              <a:t> Presence of the training surface raises all three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1143000"/>
            <a:ext cx="2761488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62288" y="1143000"/>
            <a:ext cx="2761488" cy="502920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62288" y="1143000"/>
            <a:ext cx="2761488" cy="73152"/>
          </a:xfrm>
          <a:prstGeom prst="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1289304"/>
            <a:ext cx="243230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A1F3A"/>
                </a:solidFill>
              </a:rPr>
              <a:t>Out of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1645920"/>
            <a:ext cx="2432304" cy="4434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Runtime exploits:</a:t>
            </a:r>
            <a:r>
              <a:rPr sz="1000">
                <a:solidFill>
                  <a:srgbClr val="555B66"/>
                </a:solidFill>
              </a:rPr>
              <a:t> Memory-corruption in native TFLite libraries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Supply chain:</a:t>
            </a:r>
            <a:r>
              <a:rPr sz="1000">
                <a:solidFill>
                  <a:srgbClr val="555B66"/>
                </a:solidFill>
              </a:rPr>
              <a:t> Compromised model dependencies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Backend services:</a:t>
            </a:r>
            <a:r>
              <a:rPr sz="1000">
                <a:solidFill>
                  <a:srgbClr val="555B66"/>
                </a:solidFill>
              </a:rPr>
              <a:t> Server-side training pipeline attacks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Repackaging:</a:t>
            </a:r>
            <a:r>
              <a:rPr sz="1000">
                <a:solidFill>
                  <a:srgbClr val="555B66"/>
                </a:solidFill>
              </a:rPr>
              <a:t> Device-side model replacement (covered by ModelXRay)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3112" y="6537960"/>
            <a:ext cx="8229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</a:rPr>
              <a:t>4 /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Bruna Vasconcelos  •  CS 6491 Final Project  •  Spring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Approach: Five-Stage Static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91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Architected to run on any APK without running the app — outputs per-app JSON + aggregated 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" y="1188720"/>
            <a:ext cx="2148840" cy="192024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325880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1691640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Archive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2148840"/>
            <a:ext cx="19659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unzip APK · extension match
(.tflite/.onnx/.pb/.pt)
Shannon entropy · magic bytes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1965960"/>
            <a:ext cx="137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0A1F3A"/>
                </a:solidFill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34056" y="1188720"/>
            <a:ext cx="2148840" cy="1920240"/>
          </a:xfrm>
          <a:prstGeom prst="roundRect">
            <a:avLst/>
          </a:prstGeom>
          <a:solidFill>
            <a:srgbClr val="26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4056" y="1325880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1691640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Native Libs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496" y="2148840"/>
            <a:ext cx="19659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libtensorflowlite.so
libonnxruntime.so
libmediapipe.so / etc.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1965960"/>
            <a:ext cx="137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0A1F3A"/>
                </a:solidFill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0056" y="1188720"/>
            <a:ext cx="2148840" cy="192024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0056" y="1325880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0056" y="1691640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apktool Decode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11496" y="2148840"/>
            <a:ext cx="19659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Smali bytecode
AndroidManifest.xml
300s timeout · safe_rmtree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8896" y="1965960"/>
            <a:ext cx="137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0A1F3A"/>
                </a:solidFill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6056" y="1188720"/>
            <a:ext cx="2148840" cy="19202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6056" y="1325880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1691640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Manifest Parse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2148840"/>
            <a:ext cx="19659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defusedxml (XXE-safe)
CAMERA · MIC · LOCATION
INTERNET · SMS ·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1965960"/>
            <a:ext cx="137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0A1F3A"/>
                </a:solidFill>
              </a:rP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92056" y="1188720"/>
            <a:ext cx="2148840" cy="192024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92056" y="1325880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STAGE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92056" y="1691640"/>
            <a:ext cx="21488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Smali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2148840"/>
            <a:ext cx="196596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ML-SDK imports
Poisoning-surface regexes
Cap: 5,000 files/app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383280"/>
            <a:ext cx="11091672" cy="1280160"/>
          </a:xfrm>
          <a:prstGeom prst="round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520440"/>
            <a:ext cx="5486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</a:rPr>
              <a:t>OUTPUTS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3794760"/>
            <a:ext cx="1097280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555B66"/>
                </a:solidFill>
              </a:rPr>
              <a:t>•  Per-app JSON:</a:t>
            </a:r>
            <a:r>
              <a:rPr sz="1100">
                <a:solidFill>
                  <a:srgbClr val="555B66"/>
                </a:solidFill>
              </a:rPr>
              <a:t> raw evidence — model artefacts, entropy, permissions, Smali hits, coverage stats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555B66"/>
                </a:solidFill>
              </a:rPr>
              <a:t>•  Aggregated CSV:</a:t>
            </a:r>
            <a:r>
              <a:rPr sz="1100">
                <a:solidFill>
                  <a:srgbClr val="555B66"/>
                </a:solidFill>
              </a:rPr>
              <a:t> one row per app — severity counts, top finding, SHA-256 APK hash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555B66"/>
                </a:solidFill>
              </a:rPr>
              <a:t>•  Severity rubric:</a:t>
            </a:r>
            <a:r>
              <a:rPr sz="1100">
                <a:solidFill>
                  <a:srgbClr val="555B66"/>
                </a:solidFill>
              </a:rPr>
              <a:t> Critical / High / Medium / Info — assigned per finding, propagated to app-level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846320"/>
            <a:ext cx="11091672" cy="1371600"/>
          </a:xfrm>
          <a:prstGeom prst="round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9377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E9C46A"/>
                </a:solidFill>
              </a:rPr>
              <a:t>HONEST SCOPE DISCLOSURE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120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Stage 5 is pattern-matching (regex on Smali), not taint analysis.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577840"/>
            <a:ext cx="1097280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Full inter-procedural Soot/FlowDroid taint was planned but deferred. ProGuard / R8 obfuscation can evade literal-string patterns — this is the dominant source of false-negative risk and is disclosed in limitations.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3112" y="6537960"/>
            <a:ext cx="8229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</a:rPr>
              <a:t>5 / 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Bruna Vasconcelos  •  CS 6491 Final Project  •  Spring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Methods: Data &amp; Severity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91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Pilot corpus of six APKs — five F-Droid open-source apps plus a synthetic positive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</a:rPr>
              <a:t>PILOT CORPUS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555B66"/>
                </a:solidFill>
              </a:rPr>
              <a:t>F-Droid chosen for license friction — no Play Store ToS issues. Synthetic positive control = stock MobileNet v1 in an APK-shaped zip.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6583680" cy="36576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47671"/>
            <a:ext cx="20116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947671"/>
            <a:ext cx="731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947671"/>
            <a:ext cx="14630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SHA-256 (prefix)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947671"/>
            <a:ext cx="1645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40279"/>
            <a:ext cx="6583680" cy="3657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13431"/>
            <a:ext cx="20116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F-Droid (org.fdroid.fdroid)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313431"/>
            <a:ext cx="731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12.4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313431"/>
            <a:ext cx="14630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985f5181d48bb6ba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313431"/>
            <a:ext cx="1645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App catalogue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06039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679191"/>
            <a:ext cx="20116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NewPipe (org.schabi.newpipe)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679191"/>
            <a:ext cx="731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10.9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2679191"/>
            <a:ext cx="14630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dbc8a1bb7a3db16f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679191"/>
            <a:ext cx="1645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YouTube frontend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971799"/>
            <a:ext cx="6583680" cy="3657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1"/>
            <a:ext cx="20116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Aves Gallery libre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044951"/>
            <a:ext cx="731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55.9 MB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3044951"/>
            <a:ext cx="14630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75697b19f2eb850f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044951"/>
            <a:ext cx="1645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Photo viewer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337559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410711"/>
            <a:ext cx="20116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Nextcloud 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3410711"/>
            <a:ext cx="731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77.8 MB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3410711"/>
            <a:ext cx="14630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e36e6ef4215cf003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410711"/>
            <a:ext cx="1645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Cloud client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703319"/>
            <a:ext cx="6583680" cy="3657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776471"/>
            <a:ext cx="20116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Fennec (Firefox fork)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3776471"/>
            <a:ext cx="731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117.6 MB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3776471"/>
            <a:ext cx="14630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251146a2b5f6d801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3776471"/>
            <a:ext cx="1645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Web browser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069079"/>
            <a:ext cx="65836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142231"/>
            <a:ext cx="20116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2A9D8F"/>
                </a:solidFill>
              </a:rPr>
              <a:t>positive_control (MobileNet v1)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4142231"/>
            <a:ext cx="731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15.7 MB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40" y="4142231"/>
            <a:ext cx="14630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d9c71359fcce2d5f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4142231"/>
            <a:ext cx="16459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★ synthetic control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100584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</a:rPr>
              <a:t>SEVERITY RUBRIC (as implemented)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1280160"/>
            <a:ext cx="32918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555B66"/>
                </a:solidFill>
              </a:rPr>
              <a:t>Pilot produced only High + Info (see notes)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0" y="1783080"/>
            <a:ext cx="329184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12480" y="1783080"/>
            <a:ext cx="3291840" cy="96012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412480" y="1783080"/>
            <a:ext cx="182880" cy="9601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0" y="1856232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</a:rPr>
              <a:t>Critical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2112264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Active poisoning surface + unauth model update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2459736"/>
            <a:ext cx="3017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E63946"/>
                </a:solidFill>
              </a:rPr>
              <a:t>Not producible by pilot (RQ4 deferred)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12480" y="2816351"/>
            <a:ext cx="329184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412480" y="2816351"/>
            <a:ext cx="3291840" cy="96012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412480" y="2816351"/>
            <a:ext cx="182880" cy="9601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0" y="2889503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3145535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Identified unencrypted model OR poisoning-surface regex hit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493007"/>
            <a:ext cx="3017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4A8C4A"/>
                </a:solidFill>
              </a:rPr>
              <a:t>Fires on positive control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12480" y="3849622"/>
            <a:ext cx="329184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412480" y="3849622"/>
            <a:ext cx="3291840" cy="96012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12480" y="3849622"/>
            <a:ext cx="182880" cy="9601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0" y="3922774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E9C46A"/>
                </a:solidFill>
              </a:rPr>
              <a:t>Medium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178806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Model file with ambiguous entropy (encryption vs. compression)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0" y="4526278"/>
            <a:ext cx="3017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E63946"/>
                </a:solidFill>
              </a:rPr>
              <a:t>Not produced by pilot corpus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412480" y="4882893"/>
            <a:ext cx="329184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412480" y="4882893"/>
            <a:ext cx="3291840" cy="96012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12480" y="4882893"/>
            <a:ext cx="182880" cy="960120"/>
          </a:xfrm>
          <a:prstGeom prst="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0" y="4956045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</a:rPr>
              <a:t>Info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5212077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No on-device ML detected — outside Truth-Serum surface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5559549"/>
            <a:ext cx="30175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 i="1">
                <a:solidFill>
                  <a:srgbClr val="4A8C4A"/>
                </a:solidFill>
              </a:rPr>
              <a:t>Fires on all F-Droid apps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83112" y="6537960"/>
            <a:ext cx="8229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</a:rPr>
              <a:t>6 / 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Bruna Vasconcelos  •  CS 6491 Final Project  •  Spring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Methods: Evaluation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91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Two calibration moves — positive control proves detection fires; null on F-Droid proves no spurious alarms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553212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5532120" cy="265176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532120" cy="109728"/>
          </a:xfrm>
          <a:prstGeom prst="rect">
            <a:avLst/>
          </a:prstGeom>
          <a:solidFill>
            <a:srgbClr val="4A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44168"/>
            <a:ext cx="5166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4A8C4A"/>
                </a:solidFill>
              </a:rPr>
              <a:t>POSITIVE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66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A1F3A"/>
                </a:solidFill>
              </a:rPr>
              <a:t>Synthetic APK · MobileNet v1 · 16.9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516636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Expected:</a:t>
            </a:r>
            <a:r>
              <a:rPr sz="1000">
                <a:solidFill>
                  <a:srgbClr val="555B66"/>
                </a:solidFill>
              </a:rPr>
              <a:t> detection fires with High severity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Validates:</a:t>
            </a:r>
            <a:r>
              <a:rPr sz="1000">
                <a:solidFill>
                  <a:srgbClr val="555B66"/>
                </a:solidFill>
              </a:rPr>
              <a:t> Stage 1 (archive scan) — file-extension match, magic bytes, entropy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Known weakness:</a:t>
            </a:r>
            <a:r>
              <a:rPr sz="1000">
                <a:solidFill>
                  <a:srgbClr val="555B66"/>
                </a:solidFill>
              </a:rPr>
              <a:t> zip-with-model, not a valid APK structure — apktool decode fails by design, so Stages 2–5 are untested by this control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Future work:</a:t>
            </a:r>
            <a:r>
              <a:rPr sz="1000">
                <a:solidFill>
                  <a:srgbClr val="555B66"/>
                </a:solidFill>
              </a:rPr>
              <a:t> minimal valid APK + ProGuard-obfuscated variant to exercise Stages 4–5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143000"/>
            <a:ext cx="553212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143000"/>
            <a:ext cx="5532120" cy="265176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143000"/>
            <a:ext cx="5532120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44168"/>
            <a:ext cx="5166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2A9D8F"/>
                </a:solidFill>
              </a:rPr>
              <a:t>NULL HYPOTHESIS (F-DROID)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91640"/>
            <a:ext cx="51663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0A1F3A"/>
                </a:solidFill>
              </a:rPr>
              <a:t>5 open-source utility apps · 274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516636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Expected:</a:t>
            </a:r>
            <a:r>
              <a:rPr sz="1000">
                <a:solidFill>
                  <a:srgbClr val="555B66"/>
                </a:solidFill>
              </a:rPr>
              <a:t> no on-device ML in unobfuscated reproducible builds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Validates:</a:t>
            </a:r>
            <a:r>
              <a:rPr sz="1000">
                <a:solidFill>
                  <a:srgbClr val="555B66"/>
                </a:solidFill>
              </a:rPr>
              <a:t> no false-positive at low baseline — detector correctly outputs null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Does NOT validate:</a:t>
            </a:r>
            <a:r>
              <a:rPr sz="1000">
                <a:solidFill>
                  <a:srgbClr val="555B66"/>
                </a:solidFill>
              </a:rPr>
              <a:t> performance on obfuscated Play Store targets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Sample note:</a:t>
            </a:r>
            <a:r>
              <a:rPr sz="1000">
                <a:solidFill>
                  <a:srgbClr val="555B66"/>
                </a:solidFill>
              </a:rPr>
              <a:t> n=5 ≈ 0.1% of F-Droid catalogue — pilot, not structural claim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11091672" cy="2103120"/>
          </a:xfrm>
          <a:prstGeom prst="round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E9C46A"/>
                </a:solidFill>
              </a:rPr>
              <a:t>WHAT THIS EVAL DESIGN ACTUALLY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4A8C4A"/>
                </a:solidFill>
              </a:rPr>
              <a:t>✓ CONFIRMED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18888"/>
            <a:ext cx="53035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Archive stage fires on known model artefact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Severity rubric assigns High to exposed model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Null on clean corpus → no false-positive at baseline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Pipeline is re-runnable end-to-end on new APKs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2628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9C46A"/>
                </a:solidFill>
              </a:rPr>
              <a:t>✗ NOT YET VALIDATED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818888"/>
            <a:ext cx="53035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Poisoning-surface regexes have never fired true-positive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Obfuscation-resistance (ProGuard / R8 renaming)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False-positive / false-negative rates (n=5 too small)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•  Performance vs. MobSF / ModelXRay (no baseline run)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3112" y="6537960"/>
            <a:ext cx="8229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</a:rPr>
              <a:t>7 / 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Bruna Vasconcelos  •  CS 6491 Final Project  •  Spring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Results: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91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Six APKs processed · positive control detected at High severity · null on five F-Droid apps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2651760" cy="105156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APKs analysed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1051560"/>
            <a:ext cx="2651760" cy="1051560"/>
          </a:xfrm>
          <a:prstGeom prst="roundRect">
            <a:avLst/>
          </a:prstGeom>
          <a:solidFill>
            <a:srgbClr val="26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11430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290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8288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Total corpus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1051560"/>
            <a:ext cx="2651760" cy="105156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71616" y="11430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 /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71616" y="18288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With on-device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3104" y="1051560"/>
            <a:ext cx="2651760" cy="105156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3104" y="11430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1828800"/>
            <a:ext cx="26517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Findings logged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3317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</a:rPr>
              <a:t>PER-APP FINDINGS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697480"/>
            <a:ext cx="10515600" cy="36576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779776"/>
            <a:ext cx="332841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App (package)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6512" y="2779776"/>
            <a:ext cx="76809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2779776"/>
            <a:ext cx="95097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779776"/>
            <a:ext cx="113385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ML SDKs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8352" y="2779776"/>
            <a:ext cx="131673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Smali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2779776"/>
            <a:ext cx="104241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0112" y="2779776"/>
            <a:ext cx="95097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Top severity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063240"/>
            <a:ext cx="10515600" cy="329184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127248"/>
            <a:ext cx="332841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deckers.thibault.aves.libre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3127248"/>
            <a:ext cx="76809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55.9 MB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912" y="3127248"/>
            <a:ext cx="95097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8192" y="3127248"/>
            <a:ext cx="113385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3127248"/>
            <a:ext cx="131673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5,000/6,692 (74%)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1392" y="3127248"/>
            <a:ext cx="104241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2" y="3127248"/>
            <a:ext cx="95097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</a:rPr>
              <a:t>Info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392424"/>
            <a:ext cx="105156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3456432"/>
            <a:ext cx="332841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org.fdroid.fdroid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96512" y="3456432"/>
            <a:ext cx="76809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12.4 MB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3456432"/>
            <a:ext cx="95097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08192" y="3456432"/>
            <a:ext cx="113385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none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8352" y="3456432"/>
            <a:ext cx="131673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5,000/19,701 (25%)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51392" y="3456432"/>
            <a:ext cx="104241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0112" y="3456432"/>
            <a:ext cx="95097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</a:rPr>
              <a:t>Info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721608"/>
            <a:ext cx="10515600" cy="329184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3785616"/>
            <a:ext cx="332841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org.mozilla.fennec_fdroid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96512" y="3785616"/>
            <a:ext cx="76809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117.6 MB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10912" y="3785616"/>
            <a:ext cx="95097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08192" y="3785616"/>
            <a:ext cx="113385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none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88352" y="3785616"/>
            <a:ext cx="131673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5,000/33,385 (14%)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51392" y="3785616"/>
            <a:ext cx="104241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40112" y="3785616"/>
            <a:ext cx="95097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</a:rPr>
              <a:t>Info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050792"/>
            <a:ext cx="105156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" y="4114800"/>
            <a:ext cx="332841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org.schabi.newpipe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96512" y="4114800"/>
            <a:ext cx="76809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10.9 MB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10912" y="4114800"/>
            <a:ext cx="95097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08192" y="4114800"/>
            <a:ext cx="113385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none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88352" y="4114800"/>
            <a:ext cx="131673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5,000/8,540 (58%)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51392" y="4114800"/>
            <a:ext cx="104241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40112" y="4114800"/>
            <a:ext cx="95097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</a:rPr>
              <a:t>Info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379976"/>
            <a:ext cx="10515600" cy="329184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" y="4443984"/>
            <a:ext cx="332841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com.nextcloud.client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96512" y="4443984"/>
            <a:ext cx="76809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77.8 MB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10912" y="4443984"/>
            <a:ext cx="95097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08192" y="4443984"/>
            <a:ext cx="113385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none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88352" y="4443984"/>
            <a:ext cx="131673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5,000/46,547 (10%)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51392" y="4443984"/>
            <a:ext cx="104241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40112" y="4443984"/>
            <a:ext cx="95097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</a:rPr>
              <a:t>Info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4709160"/>
            <a:ext cx="105156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4773168"/>
            <a:ext cx="332841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positive_control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96512" y="4773168"/>
            <a:ext cx="76809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15.7 MB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10912" y="4773168"/>
            <a:ext cx="95097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08192" y="4773168"/>
            <a:ext cx="113385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n/a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88352" y="4773168"/>
            <a:ext cx="131673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n/a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51392" y="4773168"/>
            <a:ext cx="104241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0A1F3A"/>
                </a:solidFill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40112" y="4773168"/>
            <a:ext cx="950976" cy="2377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</a:rPr>
              <a:t>High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" y="5212080"/>
            <a:ext cx="11091672" cy="1005840"/>
          </a:xfrm>
          <a:prstGeom prst="round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" y="53035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</a:rPr>
              <a:t>HEADLINE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" y="5559552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Detector fires on positive control (High); null on all five F-Droid apps.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7240" y="5897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B0C4DE"/>
                </a:solidFill>
              </a:rPr>
              <a:t>Pilot observation: unobfuscated open-source utility apps don't bundle on-device ML. 0.1% sample — not a structural claim about F-Droid.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183112" y="6537960"/>
            <a:ext cx="8229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</a:rPr>
              <a:t>8 / 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Bruna Vasconcelos  •  CS 6491 Final Project  •  Spring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Results: Smali Coverage — the Dominant FN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91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5,000-file cap meant large apps were only partially scanned. Raising it is the single highest-impact engineering change.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097280"/>
          <a:ext cx="68580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14300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</a:rPr>
              <a:t>INTERPRETATION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463040"/>
            <a:ext cx="41148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0" y="1463040"/>
            <a:ext cx="4114800" cy="86868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1463040"/>
            <a:ext cx="228600" cy="8686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5544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E63946"/>
                </a:solidFill>
              </a:rPr>
              <a:t>&lt; 25%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810512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</a:rPr>
              <a:t>Large apps — high false-negative risk. Ninefold increase would reach full coverage.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423160"/>
            <a:ext cx="41148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2423160"/>
            <a:ext cx="4114800" cy="86868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2423160"/>
            <a:ext cx="228600" cy="8686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5146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4A261"/>
                </a:solidFill>
              </a:rPr>
              <a:t>25–60%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770632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</a:rPr>
              <a:t>Moderate apps — residual FN risk. Priority-ordered scanning would help.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383280"/>
            <a:ext cx="41148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80960" y="3383280"/>
            <a:ext cx="4114800" cy="868680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3383280"/>
            <a:ext cx="228600" cy="868680"/>
          </a:xfrm>
          <a:prstGeom prst="rect">
            <a:avLst/>
          </a:prstGeom>
          <a:solidFill>
            <a:srgbClr val="4A8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4747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4A8C4A"/>
                </a:solidFill>
              </a:rPr>
              <a:t>&gt; 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730752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555B66"/>
                </a:solidFill>
              </a:rPr>
              <a:t>Small apps — near-full coverage. Null is meaningful here.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32120"/>
            <a:ext cx="11091672" cy="868680"/>
          </a:xfrm>
          <a:prstGeom prst="round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E9C46A"/>
                </a:solidFill>
              </a:rPr>
              <a:t>ACTIONABLE 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Raise the Smali cap OR switch to priority-ordered scanning (SDK-import-first). Trivial code change; not in tonight's build. Materially reduces FN risk on large apps.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3112" y="6537960"/>
            <a:ext cx="8229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</a:rPr>
              <a:t>9 /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Bruna Vasconcelos  •  CS 6491 Final Project  •  Spring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Limitations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91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What this pilot can and cannot claim, and where the tool goes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E63946"/>
                </a:solidFill>
              </a:rPr>
              <a:t>LIMITATIONS DISCLOSED UP-FRONT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66928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Pattern-match, not taint analysis.</a:t>
            </a:r>
            <a:r>
              <a:rPr sz="1000">
                <a:solidFill>
                  <a:srgbClr val="555B66"/>
                </a:solidFill>
              </a:rPr>
              <a:t> Regex on Smali — fragile against ProGuard / R8 class renaming.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n = 5 corpus.</a:t>
            </a:r>
            <a:r>
              <a:rPr sz="1000">
                <a:solidFill>
                  <a:srgbClr val="555B66"/>
                </a:solidFill>
              </a:rPr>
              <a:t> Pilot scale. Cannot compute FP / FN rates from this sample.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Positive control validates only Stage 1.</a:t>
            </a:r>
            <a:r>
              <a:rPr sz="1000">
                <a:solidFill>
                  <a:srgbClr val="555B66"/>
                </a:solidFill>
              </a:rPr>
              <a:t> Archive match on unobfuscated model. SDK / Smali / severity untested.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No baseline comparison.</a:t>
            </a:r>
            <a:r>
              <a:rPr sz="1000">
                <a:solidFill>
                  <a:srgbClr val="555B66"/>
                </a:solidFill>
              </a:rPr>
              <a:t> MobSF, QARK, ModelXRay not run on same corpus.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No manual ground truth.</a:t>
            </a:r>
            <a:r>
              <a:rPr sz="1000">
                <a:solidFill>
                  <a:srgbClr val="555B66"/>
                </a:solidFill>
              </a:rPr>
              <a:t> Null results not confirmed by jadx inspection.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Smali cap at 5,000 files.</a:t>
            </a:r>
            <a:r>
              <a:rPr sz="1000">
                <a:solidFill>
                  <a:srgbClr val="555B66"/>
                </a:solidFill>
              </a:rPr>
              <a:t> Large apps 11–25% covered — see slide 9.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4A8C4A"/>
                </a:solidFill>
              </a:rPr>
              <a:t>CONCRETE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30352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Play-Store corpus (n≈100).</a:t>
            </a:r>
            <a:r>
              <a:rPr sz="1000">
                <a:solidFill>
                  <a:srgbClr val="555B66"/>
                </a:solidFill>
              </a:rPr>
              <a:t> Keyboards, translation, camera — where training surface lives.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Obfuscation-resistant detector.</a:t>
            </a:r>
            <a:r>
              <a:rPr sz="1000">
                <a:solidFill>
                  <a:srgbClr val="555B66"/>
                </a:solidFill>
              </a:rPr>
              <a:t> Anchor on native-lib presence + string-constant extraction.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Baseline run.</a:t>
            </a:r>
            <a:r>
              <a:rPr sz="1000">
                <a:solidFill>
                  <a:srgbClr val="555B66"/>
                </a:solidFill>
              </a:rPr>
              <a:t> MobSF + ModelXRay on same apps → comparative FP/FN rates.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Manual verification loop.</a:t>
            </a:r>
            <a:r>
              <a:rPr sz="1000">
                <a:solidFill>
                  <a:srgbClr val="555B66"/>
                </a:solidFill>
              </a:rPr>
              <a:t> Spot-check 10–20 apps in jadx to anchor null results.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Raise Smali cap.</a:t>
            </a:r>
            <a:r>
              <a:rPr sz="1000">
                <a:solidFill>
                  <a:srgbClr val="555B66"/>
                </a:solidFill>
              </a:rPr>
              <a:t> Direct FN-risk reduction on large apps (slide 9).</a:t>
            </a:r>
          </a:p>
          <a:p>
            <a:pPr algn="l">
              <a:spcAft>
                <a:spcPts val="400"/>
              </a:spcAft>
            </a:pPr>
            <a:r>
              <a:rPr sz="1000" b="1">
                <a:solidFill>
                  <a:srgbClr val="555B66"/>
                </a:solidFill>
              </a:rPr>
              <a:t>•  Stronger positive control.</a:t>
            </a:r>
            <a:r>
              <a:rPr sz="1000">
                <a:solidFill>
                  <a:srgbClr val="555B66"/>
                </a:solidFill>
              </a:rPr>
              <a:t> Valid minimal APK + ProGuard-obfuscated variant.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60520"/>
            <a:ext cx="11091672" cy="640080"/>
          </a:xfrm>
          <a:prstGeom prst="round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160520"/>
            <a:ext cx="137160" cy="64008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24528"/>
            <a:ext cx="21031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 i="0">
                <a:solidFill>
                  <a:srgbClr val="E9C46A"/>
                </a:solidFill>
              </a:rPr>
              <a:t>TAKE-AWAY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53128"/>
            <a:ext cx="10817352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The tool is calibrated. The science starts at the Play Store corpus.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892040"/>
            <a:ext cx="11091672" cy="1371600"/>
          </a:xfrm>
          <a:prstGeom prst="round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2A9D8F"/>
                </a:solidFill>
              </a:rPr>
              <a:t>CONTRIBUTIONS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285232"/>
            <a:ext cx="3685032" cy="914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330952"/>
            <a:ext cx="368503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632704"/>
            <a:ext cx="3465576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Static-analysis pipeline targeting the training-surface gap orthogonal to Xu '19 and Sun '21.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35424" y="5285232"/>
            <a:ext cx="3685032" cy="914400"/>
          </a:xfrm>
          <a:prstGeom prst="roundRect">
            <a:avLst/>
          </a:prstGeom>
          <a:solidFill>
            <a:srgbClr val="26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5330952"/>
            <a:ext cx="368503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5632704"/>
            <a:ext cx="3465576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Severity-rubric design tied to the Truth-Serum precondition — High and Info demonstrated; Critical and Medium reserved for future detectors.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93608" y="5285232"/>
            <a:ext cx="3685032" cy="9144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8" y="5330952"/>
            <a:ext cx="368503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5632704"/>
            <a:ext cx="3465576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Calibrated pilot: positive control fires as predicted; null on 5 open-source apps with documented coverage gaps.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1091672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00" b="0" i="1">
                <a:solidFill>
                  <a:srgbClr val="555B66"/>
                </a:solidFill>
              </a:rPr>
              <a:t>REPRODUCIBILITY   ·   python3 pipeline/pipeline.py --apk-dir apks/ --out results/   ·   APK SHA-256 prefixes on slide 6   ·   source + JSON/CSV evidence archived with submission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3112" y="6537960"/>
            <a:ext cx="8229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</a:rPr>
              <a:t>10 /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Bruna Vasconcelos  •  CS 6491 Final Project  •  Spring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109167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Appendix: Anticipated 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"/>
            <a:ext cx="11091672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</a:rPr>
              <a:t>Preempted answers — shown only if questions arise. Rehearsed talk does not walk through this slide.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11091672" cy="795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11091672" cy="795528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109728" cy="7955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115568"/>
            <a:ext cx="1068019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A1F3A"/>
                </a:solidFill>
              </a:rPr>
              <a:t>Q.  Would your tool detect federated learning in GBoard?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89888"/>
            <a:ext cx="1068019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A.  Not reliably. ProGuard / R8 renames the class names my regexes target. The tool would flag the RECORD_AUDIO permission + libtensorflowlite.so, but not the federated training surface itself. Obfuscation-resistant detection (anchored on native-lib presence + string-constant extraction) is a concrete next step.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83664"/>
            <a:ext cx="11091672" cy="795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883664"/>
            <a:ext cx="11091672" cy="795528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83664"/>
            <a:ext cx="109728" cy="7955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47672"/>
            <a:ext cx="1068019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A1F3A"/>
                </a:solidFill>
              </a:rPr>
              <a:t>Q.  How is this different from ModelXRay (Sun '21)?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21992"/>
            <a:ext cx="1068019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A.  ModelXRay audits model protection — can the model be stolen? This audits the training surface — is user input fed into training? Orthogonal threat dimensions. On this pilot corpus, the one detection that fired (positive control, model exposure) is in fact within ModelXRay's scope; the differentiation is architectural and demonstrates on future Play Store corpora.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15768"/>
            <a:ext cx="11091672" cy="795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2715768"/>
            <a:ext cx="11091672" cy="795528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715768"/>
            <a:ext cx="109728" cy="7955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779776"/>
            <a:ext cx="1068019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A1F3A"/>
                </a:solidFill>
              </a:rPr>
              <a:t>Q.  Is your synthetic positive control really a valid APK?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054096"/>
            <a:ext cx="1068019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A.  No — it is a zip containing a MobileNet .tflite file, not an APK with a manifest / dex / Smali. That is why apktool decode fails and why stages 2–5 show n/a on slide 8. The positive control validates stage 1 only. A valid minimal APK + a ProGuard-obfuscated variant are on the future-work list.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47872"/>
            <a:ext cx="11091672" cy="795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547872"/>
            <a:ext cx="11091672" cy="795528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547872"/>
            <a:ext cx="109728" cy="7955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1068019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A1F3A"/>
                </a:solidFill>
              </a:rPr>
              <a:t>Q.  Your rubric defines 4 levels but produces only 2. Why not a 2-level rubric?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886200"/>
            <a:ext cx="1068019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A.  Critical and Medium anticipate detectors not yet built — insecure model-update channels (RQ4, deferred) and partial-encryption entropy signals. The 4-level design is intentional. The pilot demonstrates 2 of 4 in practice; slide 6 discloses this explicitly.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379976"/>
            <a:ext cx="11091672" cy="795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4379976"/>
            <a:ext cx="11091672" cy="795528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379976"/>
            <a:ext cx="109728" cy="7955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443984"/>
            <a:ext cx="1068019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A1F3A"/>
                </a:solidFill>
              </a:rPr>
              <a:t>Q.  On this 5-app corpus, what does your tool do that `grep -r tflite` cannot?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718304"/>
            <a:ext cx="1068019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A.  On this corpus alone — materially very little; the archive-stage detection is the only finding. The tool's differentiation (rubric, threat-model-derived severity, stage-5 pattern scan) is architectural, and is validated on the positive control's archive detection. Empirical differentiation on Play Store apps is future work.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212080"/>
            <a:ext cx="11091672" cy="7955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5212080"/>
            <a:ext cx="11091672" cy="795528"/>
          </a:xfrm>
          <a:prstGeom prst="roundRect">
            <a:avLst/>
          </a:prstGeom>
          <a:noFill/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212080"/>
            <a:ext cx="109728" cy="7955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276088"/>
            <a:ext cx="10680192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A1F3A"/>
                </a:solidFill>
              </a:rPr>
              <a:t>Q.  FP / FN rates?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550408"/>
            <a:ext cx="10680192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A.  Undefined with n = 5. A labelled ground-truth corpus of ≈100 apps — manually verified in jadx — is required for rate estimation. Listed as future work on slide 10.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6537960"/>
            <a:ext cx="82296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55B66"/>
                </a:solidFill>
              </a:rPr>
              <a:t>11 /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</a:rPr>
              <a:t>Bruna Vasconcelos  •  CS 6491 Final Project  •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